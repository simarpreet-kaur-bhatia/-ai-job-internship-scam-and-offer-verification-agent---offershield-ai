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6"/>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Calibri (MS) Bold" charset="1" panose="020F0702030404030204"/>
      <p:regular r:id="rId24"/>
    </p:embeddedFont>
    <p:embeddedFont>
      <p:font typeface="Calibri (MS) Bold Italics" charset="1" panose="020F07020304040A0204"/>
      <p:regular r:id="rId25"/>
    </p:embeddedFont>
    <p:embeddedFont>
      <p:font typeface="Arial" charset="1" panose="020B0604020202020204"/>
      <p:regular r:id="rId29"/>
    </p:embeddedFont>
    <p:embeddedFont>
      <p:font typeface="Arimo Bold" charset="1" panose="020B0704020202020204"/>
      <p:regular r:id="rId30"/>
    </p:embeddedFont>
    <p:embeddedFont>
      <p:font typeface="Arial Bold" charset="1" panose="020B0704020202020204"/>
      <p:regular r:id="rId31"/>
    </p:embeddedFont>
    <p:embeddedFont>
      <p:font typeface="Times New Roman Bold" charset="1" panose="02020803070505020304"/>
      <p:regular r:id="rId32"/>
    </p:embeddedFont>
    <p:embeddedFont>
      <p:font typeface="Times New Roman" charset="1" panose="02020603050405020304"/>
      <p:regular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notesMasters/notesMaster1.xml" Type="http://schemas.openxmlformats.org/officeDocument/2006/relationships/notesMaster"/><Relationship Id="rId27" Target="theme/theme2.xml" Type="http://schemas.openxmlformats.org/officeDocument/2006/relationships/theme"/><Relationship Id="rId28" Target="notesSlides/notesSlide1.xml" Type="http://schemas.openxmlformats.org/officeDocument/2006/relationships/note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notesSlides/notesSlide2.xml" Type="http://schemas.openxmlformats.org/officeDocument/2006/relationships/notesSlide"/><Relationship Id="rId34" Target="notesSlides/notesSlide3.xml" Type="http://schemas.openxmlformats.org/officeDocument/2006/relationships/notesSlide"/><Relationship Id="rId35" Target="notesSlides/notesSlide4.xml" Type="http://schemas.openxmlformats.org/officeDocument/2006/relationships/notesSlide"/><Relationship Id="rId36" Target="notesSlides/notesSlide5.xml" Type="http://schemas.openxmlformats.org/officeDocument/2006/relationships/notesSlide"/><Relationship Id="rId37" Target="notesSlides/notesSlide6.xml" Type="http://schemas.openxmlformats.org/officeDocument/2006/relationships/notesSlide"/><Relationship Id="rId38" Target="notesSlides/notesSlide7.xml" Type="http://schemas.openxmlformats.org/officeDocument/2006/relationships/notesSlide"/><Relationship Id="rId39" Target="notesSlides/notesSlide8.xml" Type="http://schemas.openxmlformats.org/officeDocument/2006/relationships/notesSlide"/><Relationship Id="rId4" Target="theme/theme1.xml" Type="http://schemas.openxmlformats.org/officeDocument/2006/relationships/theme"/><Relationship Id="rId40" Target="fonts/font40.fntdata" Type="http://schemas.openxmlformats.org/officeDocument/2006/relationships/font"/><Relationship Id="rId41" Target="notesSlides/notesSlide9.xml" Type="http://schemas.openxmlformats.org/officeDocument/2006/relationships/notesSlide"/><Relationship Id="rId42" Target="notesSlides/notesSlide10.xml" Type="http://schemas.openxmlformats.org/officeDocument/2006/relationships/notesSlide"/><Relationship Id="rId43" Target="notesSlides/notesSlide11.xml" Type="http://schemas.openxmlformats.org/officeDocument/2006/relationships/notesSlide"/><Relationship Id="rId44" Target="notesSlides/notesSlide12.xml" Type="http://schemas.openxmlformats.org/officeDocument/2006/relationships/notesSlide"/><Relationship Id="rId45" Target="notesSlides/notesSlide13.xml" Type="http://schemas.openxmlformats.org/officeDocument/2006/relationships/notesSlide"/><Relationship Id="rId46" Target="notesSlides/notesSlide14.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47775" y="2564606"/>
            <a:ext cx="15773400" cy="4279106"/>
            <a:chOff x="0" y="0"/>
            <a:chExt cx="21031200" cy="5705475"/>
          </a:xfrm>
        </p:grpSpPr>
        <p:sp>
          <p:nvSpPr>
            <p:cNvPr name="Freeform 3" id="3"/>
            <p:cNvSpPr/>
            <p:nvPr/>
          </p:nvSpPr>
          <p:spPr>
            <a:xfrm flipH="false" flipV="false" rot="0">
              <a:off x="0" y="0"/>
              <a:ext cx="21031200" cy="5705474"/>
            </a:xfrm>
            <a:custGeom>
              <a:avLst/>
              <a:gdLst/>
              <a:ahLst/>
              <a:cxnLst/>
              <a:rect r="r" b="b" t="t" l="l"/>
              <a:pathLst>
                <a:path h="5705474" w="21031200">
                  <a:moveTo>
                    <a:pt x="0" y="0"/>
                  </a:moveTo>
                  <a:lnTo>
                    <a:pt x="21031200" y="0"/>
                  </a:lnTo>
                  <a:lnTo>
                    <a:pt x="21031200" y="5705474"/>
                  </a:lnTo>
                  <a:lnTo>
                    <a:pt x="0" y="5705474"/>
                  </a:lnTo>
                  <a:close/>
                </a:path>
              </a:pathLst>
            </a:custGeom>
            <a:blipFill>
              <a:blip r:embed="rId2">
                <a:alphaModFix amt="0"/>
              </a:blip>
              <a:stretch>
                <a:fillRect l="0" t="-21824" r="0" b="-21824"/>
              </a:stretch>
            </a:blipFill>
          </p:spPr>
        </p:sp>
        <p:sp>
          <p:nvSpPr>
            <p:cNvPr name="TextBox 4" id="4"/>
            <p:cNvSpPr txBox="true"/>
            <p:nvPr/>
          </p:nvSpPr>
          <p:spPr>
            <a:xfrm>
              <a:off x="0" y="-95250"/>
              <a:ext cx="21031200" cy="5800725"/>
            </a:xfrm>
            <a:prstGeom prst="rect">
              <a:avLst/>
            </a:prstGeom>
          </p:spPr>
          <p:txBody>
            <a:bodyPr anchor="b" rtlCol="false" tIns="0" lIns="0" bIns="0" rIns="0"/>
            <a:lstStyle/>
            <a:p>
              <a:pPr algn="ctr">
                <a:lnSpc>
                  <a:spcPts val="10692"/>
                </a:lnSpc>
              </a:pPr>
              <a:r>
                <a:rPr lang="en-US" sz="9900" b="true">
                  <a:solidFill>
                    <a:srgbClr val="000000"/>
                  </a:solidFill>
                  <a:latin typeface="Calibri (MS) Bold"/>
                  <a:ea typeface="Calibri (MS) Bold"/>
                  <a:cs typeface="Calibri (MS) Bold"/>
                  <a:sym typeface="Calibri (MS) Bold"/>
                </a:rPr>
                <a:t>IBM University Engagement Project Submission</a:t>
              </a:r>
            </a:p>
            <a:p>
              <a:pPr algn="ctr">
                <a:lnSpc>
                  <a:spcPts val="10692"/>
                </a:lnSpc>
              </a:pPr>
            </a:p>
          </p:txBody>
        </p:sp>
      </p:grpSp>
      <p:sp>
        <p:nvSpPr>
          <p:cNvPr name="TextBox 5" id="5"/>
          <p:cNvSpPr txBox="true"/>
          <p:nvPr/>
        </p:nvSpPr>
        <p:spPr>
          <a:xfrm rot="0">
            <a:off x="1613516" y="5882145"/>
            <a:ext cx="15590549" cy="2177929"/>
          </a:xfrm>
          <a:prstGeom prst="rect">
            <a:avLst/>
          </a:prstGeom>
        </p:spPr>
        <p:txBody>
          <a:bodyPr anchor="t" rtlCol="false" tIns="0" lIns="0" bIns="0" rIns="0">
            <a:spAutoFit/>
          </a:bodyPr>
          <a:lstStyle/>
          <a:p>
            <a:pPr algn="ctr">
              <a:lnSpc>
                <a:spcPts val="3888"/>
              </a:lnSpc>
            </a:pPr>
            <a:r>
              <a:rPr lang="en-US" b="true" sz="3600" i="true">
                <a:solidFill>
                  <a:srgbClr val="888888"/>
                </a:solidFill>
                <a:latin typeface="Calibri (MS) Bold Italics"/>
                <a:ea typeface="Calibri (MS) Bold Italics"/>
                <a:cs typeface="Calibri (MS) Bold Italics"/>
                <a:sym typeface="Calibri (MS) Bold Italics"/>
              </a:rPr>
              <a:t>“Exploring the Power of Agentic AI with IBM Granite and IBM Bob”</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965679" y="3900473"/>
          <a:ext cx="14058900" cy="2963569"/>
        </p:xfrm>
        <a:graphic>
          <a:graphicData uri="http://schemas.openxmlformats.org/drawingml/2006/table">
            <a:tbl>
              <a:tblPr/>
              <a:tblGrid>
                <a:gridCol w="3094464"/>
                <a:gridCol w="3654812"/>
                <a:gridCol w="3654812"/>
                <a:gridCol w="3654812"/>
              </a:tblGrid>
              <a:tr h="1242000">
                <a:tc>
                  <a:txBody>
                    <a:bodyPr anchor="t" rtlCol="false"/>
                    <a:lstStyle/>
                    <a:p>
                      <a:pPr algn="ctr">
                        <a:lnSpc>
                          <a:spcPts val="3240"/>
                        </a:lnSpc>
                        <a:defRPr/>
                      </a:pPr>
                      <a:r>
                        <a:rPr lang="en-US" sz="2700">
                          <a:solidFill>
                            <a:srgbClr val="000000"/>
                          </a:solidFill>
                          <a:latin typeface="Arial"/>
                          <a:ea typeface="Arial"/>
                          <a:cs typeface="Arial"/>
                          <a:sym typeface="Arial"/>
                        </a:rPr>
                        <a:t>Student Name</a:t>
                      </a:r>
                      <a:endParaRPr lang="en-US" sz="1100"/>
                    </a:p>
                  </a:txBody>
                  <a:tcPr marL="91450" marR="91450" marT="91450" marB="9145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5B9BD5"/>
                    </a:solidFill>
                  </a:tcPr>
                </a:tc>
                <a:tc>
                  <a:txBody>
                    <a:bodyPr anchor="t" rtlCol="false"/>
                    <a:lstStyle/>
                    <a:p>
                      <a:pPr algn="ctr">
                        <a:lnSpc>
                          <a:spcPts val="3240"/>
                        </a:lnSpc>
                        <a:defRPr/>
                      </a:pPr>
                      <a:r>
                        <a:rPr lang="en-US" sz="2700">
                          <a:solidFill>
                            <a:srgbClr val="000000"/>
                          </a:solidFill>
                          <a:latin typeface="Arial"/>
                          <a:ea typeface="Arial"/>
                          <a:cs typeface="Arial"/>
                          <a:sym typeface="Arial"/>
                        </a:rPr>
                        <a:t>Recent Passport Photo</a:t>
                      </a:r>
                      <a:endParaRPr lang="en-US" sz="1100"/>
                    </a:p>
                  </a:txBody>
                  <a:tcPr marL="91450" marR="91450" marT="91450" marB="9145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5B9BD5"/>
                    </a:solidFill>
                  </a:tcPr>
                </a:tc>
                <a:tc>
                  <a:txBody>
                    <a:bodyPr anchor="t" rtlCol="false"/>
                    <a:lstStyle/>
                    <a:p>
                      <a:pPr algn="ctr">
                        <a:lnSpc>
                          <a:spcPts val="3240"/>
                        </a:lnSpc>
                        <a:defRPr/>
                      </a:pPr>
                      <a:r>
                        <a:rPr lang="en-US" sz="2700">
                          <a:solidFill>
                            <a:srgbClr val="000000"/>
                          </a:solidFill>
                          <a:latin typeface="Arial"/>
                          <a:ea typeface="Arial"/>
                          <a:cs typeface="Arial"/>
                          <a:sym typeface="Arial"/>
                        </a:rPr>
                        <a:t>Email ID </a:t>
                      </a:r>
                      <a:endParaRPr lang="en-US" sz="1100"/>
                    </a:p>
                  </a:txBody>
                  <a:tcPr marL="91450" marR="91450" marT="91450" marB="9145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5B9BD5"/>
                    </a:solidFill>
                  </a:tcPr>
                </a:tc>
                <a:tc>
                  <a:txBody>
                    <a:bodyPr anchor="t" rtlCol="false"/>
                    <a:lstStyle/>
                    <a:p>
                      <a:pPr algn="ctr">
                        <a:lnSpc>
                          <a:spcPts val="3240"/>
                        </a:lnSpc>
                        <a:defRPr/>
                      </a:pPr>
                      <a:r>
                        <a:rPr lang="en-US" sz="2700">
                          <a:solidFill>
                            <a:srgbClr val="000000"/>
                          </a:solidFill>
                          <a:latin typeface="Arial"/>
                          <a:ea typeface="Arial"/>
                          <a:cs typeface="Arial"/>
                          <a:sym typeface="Arial"/>
                        </a:rPr>
                        <a:t>Mobile number</a:t>
                      </a:r>
                      <a:endParaRPr lang="en-US" sz="1100"/>
                    </a:p>
                    <a:p>
                      <a:pPr algn="ctr">
                        <a:lnSpc>
                          <a:spcPts val="3240"/>
                        </a:lnSpc>
                      </a:pPr>
                      <a:r>
                        <a:rPr lang="en-US" sz="2700">
                          <a:solidFill>
                            <a:srgbClr val="000000"/>
                          </a:solidFill>
                          <a:latin typeface="Arial"/>
                          <a:ea typeface="Arial"/>
                          <a:cs typeface="Arial"/>
                          <a:sym typeface="Arial"/>
                        </a:rPr>
                        <a:t>[WhatsApp] </a:t>
                      </a:r>
                    </a:p>
                  </a:txBody>
                  <a:tcPr marL="91450" marR="91450" marT="91450" marB="9145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5B9BD5"/>
                    </a:solidFill>
                  </a:tcPr>
                </a:tc>
              </a:tr>
              <a:tr h="1721569">
                <a:tc>
                  <a:txBody>
                    <a:bodyPr anchor="t" rtlCol="false"/>
                    <a:lstStyle/>
                    <a:p>
                      <a:pPr algn="l">
                        <a:lnSpc>
                          <a:spcPts val="3919"/>
                        </a:lnSpc>
                        <a:defRPr/>
                      </a:pPr>
                      <a:r>
                        <a:rPr lang="en-US" sz="2799" b="true">
                          <a:solidFill>
                            <a:srgbClr val="000000"/>
                          </a:solidFill>
                          <a:latin typeface="Arimo Bold"/>
                          <a:ea typeface="Arimo Bold"/>
                          <a:cs typeface="Arimo Bold"/>
                          <a:sym typeface="Arimo Bold"/>
                        </a:rPr>
                        <a:t>Simarpreet Kaur Bhatia</a:t>
                      </a:r>
                      <a:endParaRPr lang="en-US" sz="1100"/>
                    </a:p>
                  </a:txBody>
                  <a:tcPr marL="91450" marR="91450" marT="91450" marB="9145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D0DEEF"/>
                    </a:solidFill>
                  </a:tcPr>
                </a:tc>
                <a:tc>
                  <a:txBody>
                    <a:bodyPr anchor="t" rtlCol="false"/>
                    <a:lstStyle/>
                    <a:p>
                      <a:pPr algn="l">
                        <a:lnSpc>
                          <a:spcPts val="1679"/>
                        </a:lnSpc>
                        <a:defRPr/>
                      </a:pPr>
                      <a:endParaRPr lang="en-US" sz="1100"/>
                    </a:p>
                  </a:txBody>
                  <a:tcPr marL="91450" marR="91450" marT="91450" marB="9145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D0DEEF"/>
                    </a:solidFill>
                  </a:tcPr>
                </a:tc>
                <a:tc>
                  <a:txBody>
                    <a:bodyPr anchor="t" rtlCol="false"/>
                    <a:lstStyle/>
                    <a:p>
                      <a:pPr algn="l">
                        <a:lnSpc>
                          <a:spcPts val="3779"/>
                        </a:lnSpc>
                        <a:defRPr/>
                      </a:pPr>
                      <a:r>
                        <a:rPr lang="en-US" sz="2699" b="true">
                          <a:solidFill>
                            <a:srgbClr val="000000"/>
                          </a:solidFill>
                          <a:latin typeface="Arimo Bold"/>
                          <a:ea typeface="Arimo Bold"/>
                          <a:cs typeface="Arimo Bold"/>
                          <a:sym typeface="Arimo Bold"/>
                        </a:rPr>
                        <a:t>skbhatia55555@gmail.com</a:t>
                      </a:r>
                      <a:endParaRPr lang="en-US" sz="1100"/>
                    </a:p>
                  </a:txBody>
                  <a:tcPr marL="91450" marR="91450" marT="91450" marB="9145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D0DEEF"/>
                    </a:solidFill>
                  </a:tcPr>
                </a:tc>
                <a:tc>
                  <a:txBody>
                    <a:bodyPr anchor="t" rtlCol="false"/>
                    <a:lstStyle/>
                    <a:p>
                      <a:pPr algn="l">
                        <a:lnSpc>
                          <a:spcPts val="3919"/>
                        </a:lnSpc>
                        <a:defRPr/>
                      </a:pPr>
                      <a:r>
                        <a:rPr lang="en-US" sz="2799" b="true">
                          <a:solidFill>
                            <a:srgbClr val="000000"/>
                          </a:solidFill>
                          <a:latin typeface="Arimo Bold"/>
                          <a:ea typeface="Arimo Bold"/>
                          <a:cs typeface="Arimo Bold"/>
                          <a:sym typeface="Arimo Bold"/>
                        </a:rPr>
                        <a:t>9302458965</a:t>
                      </a:r>
                      <a:endParaRPr lang="en-US" sz="1100"/>
                    </a:p>
                  </a:txBody>
                  <a:tcPr marL="91450" marR="91450" marT="91450" marB="9145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D0DEEF"/>
                    </a:solidFill>
                  </a:tcPr>
                </a:tc>
              </a:tr>
            </a:tbl>
          </a:graphicData>
        </a:graphic>
      </p:graphicFrame>
      <p:grpSp>
        <p:nvGrpSpPr>
          <p:cNvPr name="Group 3" id="3"/>
          <p:cNvGrpSpPr/>
          <p:nvPr/>
        </p:nvGrpSpPr>
        <p:grpSpPr>
          <a:xfrm rot="0">
            <a:off x="6113360" y="5382257"/>
            <a:ext cx="1256909" cy="1321702"/>
            <a:chOff x="0" y="0"/>
            <a:chExt cx="1525003" cy="1603616"/>
          </a:xfrm>
        </p:grpSpPr>
        <p:sp>
          <p:nvSpPr>
            <p:cNvPr name="Freeform 4" id="4"/>
            <p:cNvSpPr/>
            <p:nvPr/>
          </p:nvSpPr>
          <p:spPr>
            <a:xfrm flipH="false" flipV="false" rot="0">
              <a:off x="0" y="0"/>
              <a:ext cx="1525016" cy="1603629"/>
            </a:xfrm>
            <a:custGeom>
              <a:avLst/>
              <a:gdLst/>
              <a:ahLst/>
              <a:cxnLst/>
              <a:rect r="r" b="b" t="t" l="l"/>
              <a:pathLst>
                <a:path h="1603629" w="1525016">
                  <a:moveTo>
                    <a:pt x="0" y="0"/>
                  </a:moveTo>
                  <a:lnTo>
                    <a:pt x="1525016" y="0"/>
                  </a:lnTo>
                  <a:lnTo>
                    <a:pt x="1525016" y="1603629"/>
                  </a:lnTo>
                  <a:lnTo>
                    <a:pt x="0" y="1603629"/>
                  </a:lnTo>
                  <a:lnTo>
                    <a:pt x="0" y="0"/>
                  </a:lnTo>
                  <a:close/>
                </a:path>
              </a:pathLst>
            </a:custGeom>
            <a:blipFill>
              <a:blip r:embed="rId3"/>
              <a:stretch>
                <a:fillRect l="0" t="-16616" r="0" b="-16616"/>
              </a:stretch>
            </a:blipFill>
          </p:spPr>
        </p:sp>
      </p:grpSp>
      <p:sp>
        <p:nvSpPr>
          <p:cNvPr name="TextBox 5" id="5"/>
          <p:cNvSpPr txBox="true"/>
          <p:nvPr/>
        </p:nvSpPr>
        <p:spPr>
          <a:xfrm rot="0">
            <a:off x="1900685" y="2208228"/>
            <a:ext cx="15237504" cy="571500"/>
          </a:xfrm>
          <a:prstGeom prst="rect">
            <a:avLst/>
          </a:prstGeom>
        </p:spPr>
        <p:txBody>
          <a:bodyPr anchor="t" rtlCol="false" tIns="0" lIns="0" bIns="0" rIns="0">
            <a:spAutoFit/>
          </a:bodyPr>
          <a:lstStyle/>
          <a:p>
            <a:pPr algn="l">
              <a:lnSpc>
                <a:spcPts val="4320"/>
              </a:lnSpc>
            </a:pPr>
            <a:r>
              <a:rPr lang="en-US" sz="3600" b="true">
                <a:solidFill>
                  <a:srgbClr val="000000"/>
                </a:solidFill>
                <a:latin typeface="Arial Bold"/>
                <a:ea typeface="Arial Bold"/>
                <a:cs typeface="Arial Bold"/>
                <a:sym typeface="Arial Bold"/>
              </a:rPr>
              <a:t>Domain of  Project – Digital Trust / Career &amp; Employment Safety</a:t>
            </a:r>
          </a:p>
        </p:txBody>
      </p:sp>
      <p:sp>
        <p:nvSpPr>
          <p:cNvPr name="TextBox 6" id="6"/>
          <p:cNvSpPr txBox="true"/>
          <p:nvPr/>
        </p:nvSpPr>
        <p:spPr>
          <a:xfrm rot="0">
            <a:off x="1900685" y="845096"/>
            <a:ext cx="14188888" cy="571500"/>
          </a:xfrm>
          <a:prstGeom prst="rect">
            <a:avLst/>
          </a:prstGeom>
        </p:spPr>
        <p:txBody>
          <a:bodyPr anchor="t" rtlCol="false" tIns="0" lIns="0" bIns="0" rIns="0">
            <a:spAutoFit/>
          </a:bodyPr>
          <a:lstStyle/>
          <a:p>
            <a:pPr algn="l">
              <a:lnSpc>
                <a:spcPts val="4320"/>
              </a:lnSpc>
            </a:pPr>
            <a:r>
              <a:rPr lang="en-US" sz="3600" b="true">
                <a:solidFill>
                  <a:srgbClr val="000000"/>
                </a:solidFill>
                <a:latin typeface="Times New Roman Bold"/>
                <a:ea typeface="Times New Roman Bold"/>
                <a:cs typeface="Times New Roman Bold"/>
                <a:sym typeface="Times New Roman Bold"/>
              </a:rPr>
              <a:t>Project Tile – AI </a:t>
            </a:r>
            <a:r>
              <a:rPr lang="en-US" sz="3600" b="true">
                <a:solidFill>
                  <a:srgbClr val="000000"/>
                </a:solidFill>
                <a:latin typeface="Times New Roman Bold"/>
                <a:ea typeface="Times New Roman Bold"/>
                <a:cs typeface="Times New Roman Bold"/>
                <a:sym typeface="Times New Roman Bold"/>
              </a:rPr>
              <a:t>J</a:t>
            </a:r>
            <a:r>
              <a:rPr lang="en-US" sz="3600" b="true">
                <a:solidFill>
                  <a:srgbClr val="000000"/>
                </a:solidFill>
                <a:latin typeface="Times New Roman Bold"/>
                <a:ea typeface="Times New Roman Bold"/>
                <a:cs typeface="Times New Roman Bold"/>
                <a:sym typeface="Times New Roman Bold"/>
              </a:rPr>
              <a:t>o</a:t>
            </a:r>
            <a:r>
              <a:rPr lang="en-US" sz="3600" b="true">
                <a:solidFill>
                  <a:srgbClr val="000000"/>
                </a:solidFill>
                <a:latin typeface="Times New Roman Bold"/>
                <a:ea typeface="Times New Roman Bold"/>
                <a:cs typeface="Times New Roman Bold"/>
                <a:sym typeface="Times New Roman Bold"/>
              </a:rPr>
              <a:t>b</a:t>
            </a:r>
            <a:r>
              <a:rPr lang="en-US" sz="3600" b="true">
                <a:solidFill>
                  <a:srgbClr val="000000"/>
                </a:solidFill>
                <a:latin typeface="Times New Roman Bold"/>
                <a:ea typeface="Times New Roman Bold"/>
                <a:cs typeface="Times New Roman Bold"/>
                <a:sym typeface="Times New Roman Bold"/>
              </a:rPr>
              <a:t> </a:t>
            </a:r>
            <a:r>
              <a:rPr lang="en-US" sz="3600" b="true">
                <a:solidFill>
                  <a:srgbClr val="000000"/>
                </a:solidFill>
                <a:latin typeface="Times New Roman Bold"/>
                <a:ea typeface="Times New Roman Bold"/>
                <a:cs typeface="Times New Roman Bold"/>
                <a:sym typeface="Times New Roman Bold"/>
              </a:rPr>
              <a:t>&amp;</a:t>
            </a:r>
            <a:r>
              <a:rPr lang="en-US" sz="3600" b="true">
                <a:solidFill>
                  <a:srgbClr val="000000"/>
                </a:solidFill>
                <a:latin typeface="Times New Roman Bold"/>
                <a:ea typeface="Times New Roman Bold"/>
                <a:cs typeface="Times New Roman Bold"/>
                <a:sym typeface="Times New Roman Bold"/>
              </a:rPr>
              <a:t> </a:t>
            </a:r>
            <a:r>
              <a:rPr lang="en-US" sz="3600" b="true">
                <a:solidFill>
                  <a:srgbClr val="000000"/>
                </a:solidFill>
                <a:latin typeface="Times New Roman Bold"/>
                <a:ea typeface="Times New Roman Bold"/>
                <a:cs typeface="Times New Roman Bold"/>
                <a:sym typeface="Times New Roman Bold"/>
              </a:rPr>
              <a:t>In</a:t>
            </a:r>
            <a:r>
              <a:rPr lang="en-US" sz="3600" b="true">
                <a:solidFill>
                  <a:srgbClr val="000000"/>
                </a:solidFill>
                <a:latin typeface="Times New Roman Bold"/>
                <a:ea typeface="Times New Roman Bold"/>
                <a:cs typeface="Times New Roman Bold"/>
                <a:sym typeface="Times New Roman Bold"/>
              </a:rPr>
              <a:t>t</a:t>
            </a:r>
            <a:r>
              <a:rPr lang="en-US" sz="3600" b="true">
                <a:solidFill>
                  <a:srgbClr val="000000"/>
                </a:solidFill>
                <a:latin typeface="Times New Roman Bold"/>
                <a:ea typeface="Times New Roman Bold"/>
                <a:cs typeface="Times New Roman Bold"/>
                <a:sym typeface="Times New Roman Bold"/>
              </a:rPr>
              <a:t>ernsh</a:t>
            </a:r>
            <a:r>
              <a:rPr lang="en-US" sz="3600" b="true">
                <a:solidFill>
                  <a:srgbClr val="000000"/>
                </a:solidFill>
                <a:latin typeface="Times New Roman Bold"/>
                <a:ea typeface="Times New Roman Bold"/>
                <a:cs typeface="Times New Roman Bold"/>
                <a:sym typeface="Times New Roman Bold"/>
              </a:rPr>
              <a:t>i</a:t>
            </a:r>
            <a:r>
              <a:rPr lang="en-US" sz="3600" b="true">
                <a:solidFill>
                  <a:srgbClr val="000000"/>
                </a:solidFill>
                <a:latin typeface="Times New Roman Bold"/>
                <a:ea typeface="Times New Roman Bold"/>
                <a:cs typeface="Times New Roman Bold"/>
                <a:sym typeface="Times New Roman Bold"/>
              </a:rPr>
              <a:t>p Scam and Off</a:t>
            </a:r>
            <a:r>
              <a:rPr lang="en-US" sz="3600" b="true">
                <a:solidFill>
                  <a:srgbClr val="000000"/>
                </a:solidFill>
                <a:latin typeface="Times New Roman Bold"/>
                <a:ea typeface="Times New Roman Bold"/>
                <a:cs typeface="Times New Roman Bold"/>
                <a:sym typeface="Times New Roman Bold"/>
              </a:rPr>
              <a:t>e</a:t>
            </a:r>
            <a:r>
              <a:rPr lang="en-US" sz="3600" b="true">
                <a:solidFill>
                  <a:srgbClr val="000000"/>
                </a:solidFill>
                <a:latin typeface="Times New Roman Bold"/>
                <a:ea typeface="Times New Roman Bold"/>
                <a:cs typeface="Times New Roman Bold"/>
                <a:sym typeface="Times New Roman Bold"/>
              </a:rPr>
              <a:t>r</a:t>
            </a:r>
            <a:r>
              <a:rPr lang="en-US" sz="3600" b="true">
                <a:solidFill>
                  <a:srgbClr val="000000"/>
                </a:solidFill>
                <a:latin typeface="Times New Roman Bold"/>
                <a:ea typeface="Times New Roman Bold"/>
                <a:cs typeface="Times New Roman Bold"/>
                <a:sym typeface="Times New Roman Bold"/>
              </a:rPr>
              <a:t> </a:t>
            </a:r>
            <a:r>
              <a:rPr lang="en-US" sz="3600" b="true">
                <a:solidFill>
                  <a:srgbClr val="000000"/>
                </a:solidFill>
                <a:latin typeface="Times New Roman Bold"/>
                <a:ea typeface="Times New Roman Bold"/>
                <a:cs typeface="Times New Roman Bold"/>
                <a:sym typeface="Times New Roman Bold"/>
              </a:rPr>
              <a:t>V</a:t>
            </a:r>
            <a:r>
              <a:rPr lang="en-US" sz="3600" b="true">
                <a:solidFill>
                  <a:srgbClr val="000000"/>
                </a:solidFill>
                <a:latin typeface="Times New Roman Bold"/>
                <a:ea typeface="Times New Roman Bold"/>
                <a:cs typeface="Times New Roman Bold"/>
                <a:sym typeface="Times New Roman Bold"/>
              </a:rPr>
              <a:t>er</a:t>
            </a:r>
            <a:r>
              <a:rPr lang="en-US" sz="3600" b="true">
                <a:solidFill>
                  <a:srgbClr val="000000"/>
                </a:solidFill>
                <a:latin typeface="Times New Roman Bold"/>
                <a:ea typeface="Times New Roman Bold"/>
                <a:cs typeface="Times New Roman Bold"/>
                <a:sym typeface="Times New Roman Bold"/>
              </a:rPr>
              <a:t>ification Ag</a:t>
            </a:r>
            <a:r>
              <a:rPr lang="en-US" sz="3600" b="true">
                <a:solidFill>
                  <a:srgbClr val="000000"/>
                </a:solidFill>
                <a:latin typeface="Times New Roman Bold"/>
                <a:ea typeface="Times New Roman Bold"/>
                <a:cs typeface="Times New Roman Bold"/>
                <a:sym typeface="Times New Roman Bold"/>
              </a:rPr>
              <a:t>e</a:t>
            </a:r>
            <a:r>
              <a:rPr lang="en-US" sz="3600" b="true">
                <a:solidFill>
                  <a:srgbClr val="000000"/>
                </a:solidFill>
                <a:latin typeface="Times New Roman Bold"/>
                <a:ea typeface="Times New Roman Bold"/>
                <a:cs typeface="Times New Roman Bold"/>
                <a:sym typeface="Times New Roman Bold"/>
              </a:rPr>
              <a:t>nt</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955548" y="1967238"/>
            <a:ext cx="16633649" cy="7077075"/>
          </a:xfrm>
          <a:prstGeom prst="rect">
            <a:avLst/>
          </a:prstGeom>
        </p:spPr>
        <p:txBody>
          <a:bodyPr anchor="t" rtlCol="false" tIns="0" lIns="0" bIns="0" rIns="0">
            <a:spAutoFit/>
          </a:bodyPr>
          <a:lstStyle/>
          <a:p>
            <a:pPr algn="l">
              <a:lnSpc>
                <a:spcPts val="3359"/>
              </a:lnSpc>
            </a:pPr>
            <a:r>
              <a:rPr lang="en-US" sz="2799" b="true">
                <a:solidFill>
                  <a:srgbClr val="000000"/>
                </a:solidFill>
                <a:latin typeface="Arial Bold"/>
                <a:ea typeface="Arial Bold"/>
                <a:cs typeface="Arial Bold"/>
                <a:sym typeface="Arial Bold"/>
              </a:rPr>
              <a:t>Problem Statement :AI Job &amp; Internship Scam and Offer Verification Agent</a:t>
            </a:r>
          </a:p>
          <a:p>
            <a:pPr algn="l">
              <a:lnSpc>
                <a:spcPts val="3119"/>
              </a:lnSpc>
            </a:pPr>
          </a:p>
          <a:p>
            <a:pPr algn="l">
              <a:lnSpc>
                <a:spcPts val="3119"/>
              </a:lnSpc>
            </a:pPr>
            <a:r>
              <a:rPr lang="en-US" sz="2599" b="true">
                <a:solidFill>
                  <a:srgbClr val="000000"/>
                </a:solidFill>
                <a:latin typeface="Arial Bold"/>
                <a:ea typeface="Arial Bold"/>
                <a:cs typeface="Arial Bold"/>
                <a:sym typeface="Arial Bold"/>
              </a:rPr>
              <a:t>The Challenge</a:t>
            </a:r>
          </a:p>
          <a:p>
            <a:pPr algn="l" marL="561337" indent="-280669" lvl="1">
              <a:lnSpc>
                <a:spcPts val="3119"/>
              </a:lnSpc>
              <a:buFont typeface="Arial"/>
              <a:buChar char="•"/>
            </a:pPr>
            <a:r>
              <a:rPr lang="en-US" sz="2599">
                <a:solidFill>
                  <a:srgbClr val="000000"/>
                </a:solidFill>
                <a:latin typeface="Arial"/>
                <a:ea typeface="Arial"/>
                <a:cs typeface="Arial"/>
                <a:sym typeface="Arial"/>
              </a:rPr>
              <a:t>Students and job seekers increasingly receive fake job and internship offers through onl</a:t>
            </a:r>
            <a:r>
              <a:rPr lang="en-US" sz="2599">
                <a:solidFill>
                  <a:srgbClr val="000000"/>
                </a:solidFill>
                <a:latin typeface="Arial"/>
                <a:ea typeface="Arial"/>
                <a:cs typeface="Arial"/>
                <a:sym typeface="Arial"/>
              </a:rPr>
              <a:t>i</a:t>
            </a:r>
            <a:r>
              <a:rPr lang="en-US" sz="2599">
                <a:solidFill>
                  <a:srgbClr val="000000"/>
                </a:solidFill>
                <a:latin typeface="Arial"/>
                <a:ea typeface="Arial"/>
                <a:cs typeface="Arial"/>
                <a:sym typeface="Arial"/>
              </a:rPr>
              <a:t>n</a:t>
            </a:r>
            <a:r>
              <a:rPr lang="en-US" sz="2599">
                <a:solidFill>
                  <a:srgbClr val="000000"/>
                </a:solidFill>
                <a:latin typeface="Arial"/>
                <a:ea typeface="Arial"/>
                <a:cs typeface="Arial"/>
                <a:sym typeface="Arial"/>
              </a:rPr>
              <a:t>e pla</a:t>
            </a:r>
            <a:r>
              <a:rPr lang="en-US" sz="2599">
                <a:solidFill>
                  <a:srgbClr val="000000"/>
                </a:solidFill>
                <a:latin typeface="Arial"/>
                <a:ea typeface="Arial"/>
                <a:cs typeface="Arial"/>
                <a:sym typeface="Arial"/>
              </a:rPr>
              <a:t>tf</a:t>
            </a:r>
            <a:r>
              <a:rPr lang="en-US" sz="2599">
                <a:solidFill>
                  <a:srgbClr val="000000"/>
                </a:solidFill>
                <a:latin typeface="Arial"/>
                <a:ea typeface="Arial"/>
                <a:cs typeface="Arial"/>
                <a:sym typeface="Arial"/>
              </a:rPr>
              <a:t>or</a:t>
            </a:r>
            <a:r>
              <a:rPr lang="en-US" sz="2599">
                <a:solidFill>
                  <a:srgbClr val="000000"/>
                </a:solidFill>
                <a:latin typeface="Arial"/>
                <a:ea typeface="Arial"/>
                <a:cs typeface="Arial"/>
                <a:sym typeface="Arial"/>
              </a:rPr>
              <a:t>ms.</a:t>
            </a:r>
          </a:p>
          <a:p>
            <a:pPr algn="l" marL="561337" indent="-280669" lvl="1">
              <a:lnSpc>
                <a:spcPts val="3119"/>
              </a:lnSpc>
              <a:buFont typeface="Arial"/>
              <a:buChar char="•"/>
            </a:pPr>
            <a:r>
              <a:rPr lang="en-US" sz="2599">
                <a:solidFill>
                  <a:srgbClr val="000000"/>
                </a:solidFill>
                <a:latin typeface="Arial"/>
                <a:ea typeface="Arial"/>
                <a:cs typeface="Arial"/>
                <a:sym typeface="Arial"/>
              </a:rPr>
              <a:t>Fraudulen</a:t>
            </a:r>
            <a:r>
              <a:rPr lang="en-US" sz="2599">
                <a:solidFill>
                  <a:srgbClr val="000000"/>
                </a:solidFill>
                <a:latin typeface="Arial"/>
                <a:ea typeface="Arial"/>
                <a:cs typeface="Arial"/>
                <a:sym typeface="Arial"/>
              </a:rPr>
              <a:t>t</a:t>
            </a:r>
            <a:r>
              <a:rPr lang="en-US" sz="2599">
                <a:solidFill>
                  <a:srgbClr val="000000"/>
                </a:solidFill>
                <a:latin typeface="Arial"/>
                <a:ea typeface="Arial"/>
                <a:cs typeface="Arial"/>
                <a:sym typeface="Arial"/>
              </a:rPr>
              <a:t> </a:t>
            </a:r>
            <a:r>
              <a:rPr lang="en-US" sz="2599">
                <a:solidFill>
                  <a:srgbClr val="000000"/>
                </a:solidFill>
                <a:latin typeface="Arial"/>
                <a:ea typeface="Arial"/>
                <a:cs typeface="Arial"/>
                <a:sym typeface="Arial"/>
              </a:rPr>
              <a:t>o</a:t>
            </a:r>
            <a:r>
              <a:rPr lang="en-US" sz="2599">
                <a:solidFill>
                  <a:srgbClr val="000000"/>
                </a:solidFill>
                <a:latin typeface="Arial"/>
                <a:ea typeface="Arial"/>
                <a:cs typeface="Arial"/>
                <a:sym typeface="Arial"/>
              </a:rPr>
              <a:t>ffe</a:t>
            </a:r>
            <a:r>
              <a:rPr lang="en-US" sz="2599">
                <a:solidFill>
                  <a:srgbClr val="000000"/>
                </a:solidFill>
                <a:latin typeface="Arial"/>
                <a:ea typeface="Arial"/>
                <a:cs typeface="Arial"/>
                <a:sym typeface="Arial"/>
              </a:rPr>
              <a:t>r</a:t>
            </a:r>
            <a:r>
              <a:rPr lang="en-US" sz="2599">
                <a:solidFill>
                  <a:srgbClr val="000000"/>
                </a:solidFill>
                <a:latin typeface="Arial"/>
                <a:ea typeface="Arial"/>
                <a:cs typeface="Arial"/>
                <a:sym typeface="Arial"/>
              </a:rPr>
              <a:t>s</a:t>
            </a:r>
            <a:r>
              <a:rPr lang="en-US" sz="2599">
                <a:solidFill>
                  <a:srgbClr val="000000"/>
                </a:solidFill>
                <a:latin typeface="Arial"/>
                <a:ea typeface="Arial"/>
                <a:cs typeface="Arial"/>
                <a:sym typeface="Arial"/>
              </a:rPr>
              <a:t> </a:t>
            </a:r>
            <a:r>
              <a:rPr lang="en-US" sz="2599">
                <a:solidFill>
                  <a:srgbClr val="000000"/>
                </a:solidFill>
                <a:latin typeface="Arial"/>
                <a:ea typeface="Arial"/>
                <a:cs typeface="Arial"/>
                <a:sym typeface="Arial"/>
              </a:rPr>
              <a:t>m</a:t>
            </a:r>
            <a:r>
              <a:rPr lang="en-US" sz="2599">
                <a:solidFill>
                  <a:srgbClr val="000000"/>
                </a:solidFill>
                <a:latin typeface="Arial"/>
                <a:ea typeface="Arial"/>
                <a:cs typeface="Arial"/>
                <a:sym typeface="Arial"/>
              </a:rPr>
              <a:t>a</a:t>
            </a:r>
            <a:r>
              <a:rPr lang="en-US" sz="2599">
                <a:solidFill>
                  <a:srgbClr val="000000"/>
                </a:solidFill>
                <a:latin typeface="Arial"/>
                <a:ea typeface="Arial"/>
                <a:cs typeface="Arial"/>
                <a:sym typeface="Arial"/>
              </a:rPr>
              <a:t>y co</a:t>
            </a:r>
            <a:r>
              <a:rPr lang="en-US" sz="2599">
                <a:solidFill>
                  <a:srgbClr val="000000"/>
                </a:solidFill>
                <a:latin typeface="Arial"/>
                <a:ea typeface="Arial"/>
                <a:cs typeface="Arial"/>
                <a:sym typeface="Arial"/>
              </a:rPr>
              <a:t>ntain u</a:t>
            </a:r>
            <a:r>
              <a:rPr lang="en-US" sz="2599">
                <a:solidFill>
                  <a:srgbClr val="000000"/>
                </a:solidFill>
                <a:latin typeface="Arial"/>
                <a:ea typeface="Arial"/>
                <a:cs typeface="Arial"/>
                <a:sym typeface="Arial"/>
              </a:rPr>
              <a:t>n</a:t>
            </a:r>
            <a:r>
              <a:rPr lang="en-US" sz="2599">
                <a:solidFill>
                  <a:srgbClr val="000000"/>
                </a:solidFill>
                <a:latin typeface="Arial"/>
                <a:ea typeface="Arial"/>
                <a:cs typeface="Arial"/>
                <a:sym typeface="Arial"/>
              </a:rPr>
              <a:t>r</a:t>
            </a:r>
            <a:r>
              <a:rPr lang="en-US" sz="2599">
                <a:solidFill>
                  <a:srgbClr val="000000"/>
                </a:solidFill>
                <a:latin typeface="Arial"/>
                <a:ea typeface="Arial"/>
                <a:cs typeface="Arial"/>
                <a:sym typeface="Arial"/>
              </a:rPr>
              <a:t>eal</a:t>
            </a:r>
            <a:r>
              <a:rPr lang="en-US" sz="2599">
                <a:solidFill>
                  <a:srgbClr val="000000"/>
                </a:solidFill>
                <a:latin typeface="Arial"/>
                <a:ea typeface="Arial"/>
                <a:cs typeface="Arial"/>
                <a:sym typeface="Arial"/>
              </a:rPr>
              <a:t>i</a:t>
            </a:r>
            <a:r>
              <a:rPr lang="en-US" sz="2599">
                <a:solidFill>
                  <a:srgbClr val="000000"/>
                </a:solidFill>
                <a:latin typeface="Arial"/>
                <a:ea typeface="Arial"/>
                <a:cs typeface="Arial"/>
                <a:sym typeface="Arial"/>
              </a:rPr>
              <a:t>s</a:t>
            </a:r>
            <a:r>
              <a:rPr lang="en-US" sz="2599">
                <a:solidFill>
                  <a:srgbClr val="000000"/>
                </a:solidFill>
                <a:latin typeface="Arial"/>
                <a:ea typeface="Arial"/>
                <a:cs typeface="Arial"/>
                <a:sym typeface="Arial"/>
              </a:rPr>
              <a:t>ti</a:t>
            </a:r>
            <a:r>
              <a:rPr lang="en-US" sz="2599">
                <a:solidFill>
                  <a:srgbClr val="000000"/>
                </a:solidFill>
                <a:latin typeface="Arial"/>
                <a:ea typeface="Arial"/>
                <a:cs typeface="Arial"/>
                <a:sym typeface="Arial"/>
              </a:rPr>
              <a:t>c s</a:t>
            </a:r>
            <a:r>
              <a:rPr lang="en-US" sz="2599">
                <a:solidFill>
                  <a:srgbClr val="000000"/>
                </a:solidFill>
                <a:latin typeface="Arial"/>
                <a:ea typeface="Arial"/>
                <a:cs typeface="Arial"/>
                <a:sym typeface="Arial"/>
              </a:rPr>
              <a:t>al</a:t>
            </a:r>
            <a:r>
              <a:rPr lang="en-US" sz="2599">
                <a:solidFill>
                  <a:srgbClr val="000000"/>
                </a:solidFill>
                <a:latin typeface="Arial"/>
                <a:ea typeface="Arial"/>
                <a:cs typeface="Arial"/>
                <a:sym typeface="Arial"/>
              </a:rPr>
              <a:t>aries,</a:t>
            </a:r>
            <a:r>
              <a:rPr lang="en-US" sz="2599">
                <a:solidFill>
                  <a:srgbClr val="000000"/>
                </a:solidFill>
                <a:latin typeface="Arial"/>
                <a:ea typeface="Arial"/>
                <a:cs typeface="Arial"/>
                <a:sym typeface="Arial"/>
              </a:rPr>
              <a:t> </a:t>
            </a:r>
            <a:r>
              <a:rPr lang="en-US" sz="2599">
                <a:solidFill>
                  <a:srgbClr val="000000"/>
                </a:solidFill>
                <a:latin typeface="Arial"/>
                <a:ea typeface="Arial"/>
                <a:cs typeface="Arial"/>
                <a:sym typeface="Arial"/>
              </a:rPr>
              <a:t>f</a:t>
            </a:r>
            <a:r>
              <a:rPr lang="en-US" sz="2599">
                <a:solidFill>
                  <a:srgbClr val="000000"/>
                </a:solidFill>
                <a:latin typeface="Arial"/>
                <a:ea typeface="Arial"/>
                <a:cs typeface="Arial"/>
                <a:sym typeface="Arial"/>
              </a:rPr>
              <a:t>ake</a:t>
            </a:r>
            <a:r>
              <a:rPr lang="en-US" sz="2599">
                <a:solidFill>
                  <a:srgbClr val="000000"/>
                </a:solidFill>
                <a:latin typeface="Arial"/>
                <a:ea typeface="Arial"/>
                <a:cs typeface="Arial"/>
                <a:sym typeface="Arial"/>
              </a:rPr>
              <a:t> recruiters, or misleading company details.</a:t>
            </a:r>
          </a:p>
          <a:p>
            <a:pPr algn="l" marL="561337" indent="-280669" lvl="1">
              <a:lnSpc>
                <a:spcPts val="3119"/>
              </a:lnSpc>
              <a:buFont typeface="Arial"/>
              <a:buChar char="•"/>
            </a:pPr>
            <a:r>
              <a:rPr lang="en-US" sz="2599">
                <a:solidFill>
                  <a:srgbClr val="000000"/>
                </a:solidFill>
                <a:latin typeface="Arial"/>
                <a:ea typeface="Arial"/>
                <a:cs typeface="Arial"/>
                <a:sym typeface="Arial"/>
              </a:rPr>
              <a:t>Some scams demand registration, security, training, or other u</a:t>
            </a:r>
            <a:r>
              <a:rPr lang="en-US" sz="2599">
                <a:solidFill>
                  <a:srgbClr val="000000"/>
                </a:solidFill>
                <a:latin typeface="Arial"/>
                <a:ea typeface="Arial"/>
                <a:cs typeface="Arial"/>
                <a:sym typeface="Arial"/>
              </a:rPr>
              <a:t>p</a:t>
            </a:r>
            <a:r>
              <a:rPr lang="en-US" sz="2599">
                <a:solidFill>
                  <a:srgbClr val="000000"/>
                </a:solidFill>
                <a:latin typeface="Arial"/>
                <a:ea typeface="Arial"/>
                <a:cs typeface="Arial"/>
                <a:sym typeface="Arial"/>
              </a:rPr>
              <a:t>f</a:t>
            </a:r>
            <a:r>
              <a:rPr lang="en-US" sz="2599">
                <a:solidFill>
                  <a:srgbClr val="000000"/>
                </a:solidFill>
                <a:latin typeface="Arial"/>
                <a:ea typeface="Arial"/>
                <a:cs typeface="Arial"/>
                <a:sym typeface="Arial"/>
              </a:rPr>
              <a:t>ron</a:t>
            </a:r>
            <a:r>
              <a:rPr lang="en-US" sz="2599">
                <a:solidFill>
                  <a:srgbClr val="000000"/>
                </a:solidFill>
                <a:latin typeface="Arial"/>
                <a:ea typeface="Arial"/>
                <a:cs typeface="Arial"/>
                <a:sym typeface="Arial"/>
              </a:rPr>
              <a:t>t</a:t>
            </a:r>
            <a:r>
              <a:rPr lang="en-US" sz="2599">
                <a:solidFill>
                  <a:srgbClr val="000000"/>
                </a:solidFill>
                <a:latin typeface="Arial"/>
                <a:ea typeface="Arial"/>
                <a:cs typeface="Arial"/>
                <a:sym typeface="Arial"/>
              </a:rPr>
              <a:t> </a:t>
            </a:r>
            <a:r>
              <a:rPr lang="en-US" sz="2599">
                <a:solidFill>
                  <a:srgbClr val="000000"/>
                </a:solidFill>
                <a:latin typeface="Arial"/>
                <a:ea typeface="Arial"/>
                <a:cs typeface="Arial"/>
                <a:sym typeface="Arial"/>
              </a:rPr>
              <a:t>p</a:t>
            </a:r>
            <a:r>
              <a:rPr lang="en-US" sz="2599">
                <a:solidFill>
                  <a:srgbClr val="000000"/>
                </a:solidFill>
                <a:latin typeface="Arial"/>
                <a:ea typeface="Arial"/>
                <a:cs typeface="Arial"/>
                <a:sym typeface="Arial"/>
              </a:rPr>
              <a:t>a</a:t>
            </a:r>
            <a:r>
              <a:rPr lang="en-US" sz="2599">
                <a:solidFill>
                  <a:srgbClr val="000000"/>
                </a:solidFill>
                <a:latin typeface="Arial"/>
                <a:ea typeface="Arial"/>
                <a:cs typeface="Arial"/>
                <a:sym typeface="Arial"/>
              </a:rPr>
              <a:t>y</a:t>
            </a:r>
            <a:r>
              <a:rPr lang="en-US" sz="2599">
                <a:solidFill>
                  <a:srgbClr val="000000"/>
                </a:solidFill>
                <a:latin typeface="Arial"/>
                <a:ea typeface="Arial"/>
                <a:cs typeface="Arial"/>
                <a:sym typeface="Arial"/>
              </a:rPr>
              <a:t>me</a:t>
            </a:r>
            <a:r>
              <a:rPr lang="en-US" sz="2599">
                <a:solidFill>
                  <a:srgbClr val="000000"/>
                </a:solidFill>
                <a:latin typeface="Arial"/>
                <a:ea typeface="Arial"/>
                <a:cs typeface="Arial"/>
                <a:sym typeface="Arial"/>
              </a:rPr>
              <a:t>nts.</a:t>
            </a:r>
          </a:p>
          <a:p>
            <a:pPr algn="l" marL="561337" indent="-280669" lvl="1">
              <a:lnSpc>
                <a:spcPts val="3119"/>
              </a:lnSpc>
              <a:buFont typeface="Arial"/>
              <a:buChar char="•"/>
            </a:pPr>
            <a:r>
              <a:rPr lang="en-US" sz="2599">
                <a:solidFill>
                  <a:srgbClr val="000000"/>
                </a:solidFill>
                <a:latin typeface="Arial"/>
                <a:ea typeface="Arial"/>
                <a:cs typeface="Arial"/>
                <a:sym typeface="Arial"/>
              </a:rPr>
              <a:t>S</a:t>
            </a:r>
            <a:r>
              <a:rPr lang="en-US" sz="2599">
                <a:solidFill>
                  <a:srgbClr val="000000"/>
                </a:solidFill>
                <a:latin typeface="Arial"/>
                <a:ea typeface="Arial"/>
                <a:cs typeface="Arial"/>
                <a:sym typeface="Arial"/>
              </a:rPr>
              <a:t>u</a:t>
            </a:r>
            <a:r>
              <a:rPr lang="en-US" sz="2599">
                <a:solidFill>
                  <a:srgbClr val="000000"/>
                </a:solidFill>
                <a:latin typeface="Arial"/>
                <a:ea typeface="Arial"/>
                <a:cs typeface="Arial"/>
                <a:sym typeface="Arial"/>
              </a:rPr>
              <a:t>spicious l</a:t>
            </a:r>
            <a:r>
              <a:rPr lang="en-US" sz="2599">
                <a:solidFill>
                  <a:srgbClr val="000000"/>
                </a:solidFill>
                <a:latin typeface="Arial"/>
                <a:ea typeface="Arial"/>
                <a:cs typeface="Arial"/>
                <a:sym typeface="Arial"/>
              </a:rPr>
              <a:t>in</a:t>
            </a:r>
            <a:r>
              <a:rPr lang="en-US" sz="2599">
                <a:solidFill>
                  <a:srgbClr val="000000"/>
                </a:solidFill>
                <a:latin typeface="Arial"/>
                <a:ea typeface="Arial"/>
                <a:cs typeface="Arial"/>
                <a:sym typeface="Arial"/>
              </a:rPr>
              <a:t>ks, email domains, and offer-letter content can be difficult t</a:t>
            </a:r>
            <a:r>
              <a:rPr lang="en-US" sz="2599">
                <a:solidFill>
                  <a:srgbClr val="000000"/>
                </a:solidFill>
                <a:latin typeface="Arial"/>
                <a:ea typeface="Arial"/>
                <a:cs typeface="Arial"/>
                <a:sym typeface="Arial"/>
              </a:rPr>
              <a:t>o i</a:t>
            </a:r>
            <a:r>
              <a:rPr lang="en-US" sz="2599">
                <a:solidFill>
                  <a:srgbClr val="000000"/>
                </a:solidFill>
                <a:latin typeface="Arial"/>
                <a:ea typeface="Arial"/>
                <a:cs typeface="Arial"/>
                <a:sym typeface="Arial"/>
              </a:rPr>
              <a:t>den</a:t>
            </a:r>
            <a:r>
              <a:rPr lang="en-US" sz="2599">
                <a:solidFill>
                  <a:srgbClr val="000000"/>
                </a:solidFill>
                <a:latin typeface="Arial"/>
                <a:ea typeface="Arial"/>
                <a:cs typeface="Arial"/>
                <a:sym typeface="Arial"/>
              </a:rPr>
              <a:t>ti</a:t>
            </a:r>
            <a:r>
              <a:rPr lang="en-US" sz="2599">
                <a:solidFill>
                  <a:srgbClr val="000000"/>
                </a:solidFill>
                <a:latin typeface="Arial"/>
                <a:ea typeface="Arial"/>
                <a:cs typeface="Arial"/>
                <a:sym typeface="Arial"/>
              </a:rPr>
              <a:t>fy</a:t>
            </a:r>
            <a:r>
              <a:rPr lang="en-US" sz="2599">
                <a:solidFill>
                  <a:srgbClr val="000000"/>
                </a:solidFill>
                <a:latin typeface="Arial"/>
                <a:ea typeface="Arial"/>
                <a:cs typeface="Arial"/>
                <a:sym typeface="Arial"/>
              </a:rPr>
              <a:t> </a:t>
            </a:r>
            <a:r>
              <a:rPr lang="en-US" sz="2599">
                <a:solidFill>
                  <a:srgbClr val="000000"/>
                </a:solidFill>
                <a:latin typeface="Arial"/>
                <a:ea typeface="Arial"/>
                <a:cs typeface="Arial"/>
                <a:sym typeface="Arial"/>
              </a:rPr>
              <a:t>ma</a:t>
            </a:r>
            <a:r>
              <a:rPr lang="en-US" sz="2599">
                <a:solidFill>
                  <a:srgbClr val="000000"/>
                </a:solidFill>
                <a:latin typeface="Arial"/>
                <a:ea typeface="Arial"/>
                <a:cs typeface="Arial"/>
                <a:sym typeface="Arial"/>
              </a:rPr>
              <a:t>n</a:t>
            </a:r>
            <a:r>
              <a:rPr lang="en-US" sz="2599">
                <a:solidFill>
                  <a:srgbClr val="000000"/>
                </a:solidFill>
                <a:latin typeface="Arial"/>
                <a:ea typeface="Arial"/>
                <a:cs typeface="Arial"/>
                <a:sym typeface="Arial"/>
              </a:rPr>
              <a:t>ually.</a:t>
            </a:r>
          </a:p>
          <a:p>
            <a:pPr algn="l" marL="561337" indent="-280669" lvl="1">
              <a:lnSpc>
                <a:spcPts val="3119"/>
              </a:lnSpc>
              <a:buFont typeface="Arial"/>
              <a:buChar char="•"/>
            </a:pPr>
            <a:r>
              <a:rPr lang="en-US" sz="2599">
                <a:solidFill>
                  <a:srgbClr val="000000"/>
                </a:solidFill>
                <a:latin typeface="Arial"/>
                <a:ea typeface="Arial"/>
                <a:cs typeface="Arial"/>
                <a:sym typeface="Arial"/>
              </a:rPr>
              <a:t>Differ</a:t>
            </a:r>
            <a:r>
              <a:rPr lang="en-US" sz="2599">
                <a:solidFill>
                  <a:srgbClr val="000000"/>
                </a:solidFill>
                <a:latin typeface="Arial"/>
                <a:ea typeface="Arial"/>
                <a:cs typeface="Arial"/>
                <a:sym typeface="Arial"/>
              </a:rPr>
              <a:t>en</a:t>
            </a:r>
            <a:r>
              <a:rPr lang="en-US" sz="2599">
                <a:solidFill>
                  <a:srgbClr val="000000"/>
                </a:solidFill>
                <a:latin typeface="Arial"/>
                <a:ea typeface="Arial"/>
                <a:cs typeface="Arial"/>
                <a:sym typeface="Arial"/>
              </a:rPr>
              <a:t>t p</a:t>
            </a:r>
            <a:r>
              <a:rPr lang="en-US" sz="2599">
                <a:solidFill>
                  <a:srgbClr val="000000"/>
                </a:solidFill>
                <a:latin typeface="Arial"/>
                <a:ea typeface="Arial"/>
                <a:cs typeface="Arial"/>
                <a:sym typeface="Arial"/>
              </a:rPr>
              <a:t>ie</a:t>
            </a:r>
            <a:r>
              <a:rPr lang="en-US" sz="2599">
                <a:solidFill>
                  <a:srgbClr val="000000"/>
                </a:solidFill>
                <a:latin typeface="Arial"/>
                <a:ea typeface="Arial"/>
                <a:cs typeface="Arial"/>
                <a:sym typeface="Arial"/>
              </a:rPr>
              <a:t>c</a:t>
            </a:r>
            <a:r>
              <a:rPr lang="en-US" sz="2599">
                <a:solidFill>
                  <a:srgbClr val="000000"/>
                </a:solidFill>
                <a:latin typeface="Arial"/>
                <a:ea typeface="Arial"/>
                <a:cs typeface="Arial"/>
                <a:sym typeface="Arial"/>
              </a:rPr>
              <a:t>es </a:t>
            </a:r>
            <a:r>
              <a:rPr lang="en-US" sz="2599">
                <a:solidFill>
                  <a:srgbClr val="000000"/>
                </a:solidFill>
                <a:latin typeface="Arial"/>
                <a:ea typeface="Arial"/>
                <a:cs typeface="Arial"/>
                <a:sym typeface="Arial"/>
              </a:rPr>
              <a:t>of</a:t>
            </a:r>
            <a:r>
              <a:rPr lang="en-US" sz="2599">
                <a:solidFill>
                  <a:srgbClr val="000000"/>
                </a:solidFill>
                <a:latin typeface="Arial"/>
                <a:ea typeface="Arial"/>
                <a:cs typeface="Arial"/>
                <a:sym typeface="Arial"/>
              </a:rPr>
              <a:t> in</a:t>
            </a:r>
            <a:r>
              <a:rPr lang="en-US" sz="2599">
                <a:solidFill>
                  <a:srgbClr val="000000"/>
                </a:solidFill>
                <a:latin typeface="Arial"/>
                <a:ea typeface="Arial"/>
                <a:cs typeface="Arial"/>
                <a:sym typeface="Arial"/>
              </a:rPr>
              <a:t>formation may be inconsist</a:t>
            </a:r>
            <a:r>
              <a:rPr lang="en-US" sz="2599">
                <a:solidFill>
                  <a:srgbClr val="000000"/>
                </a:solidFill>
                <a:latin typeface="Arial"/>
                <a:ea typeface="Arial"/>
                <a:cs typeface="Arial"/>
                <a:sym typeface="Arial"/>
              </a:rPr>
              <a:t>ent a</a:t>
            </a:r>
            <a:r>
              <a:rPr lang="en-US" sz="2599">
                <a:solidFill>
                  <a:srgbClr val="000000"/>
                </a:solidFill>
                <a:latin typeface="Arial"/>
                <a:ea typeface="Arial"/>
                <a:cs typeface="Arial"/>
                <a:sym typeface="Arial"/>
              </a:rPr>
              <a:t>cross the company, recruiter, job role, and offer letter.</a:t>
            </a:r>
          </a:p>
          <a:p>
            <a:pPr algn="l" marL="561337" indent="-280669" lvl="1">
              <a:lnSpc>
                <a:spcPts val="3119"/>
              </a:lnSpc>
              <a:buFont typeface="Arial"/>
              <a:buChar char="•"/>
            </a:pPr>
            <a:r>
              <a:rPr lang="en-US" sz="2599">
                <a:solidFill>
                  <a:srgbClr val="000000"/>
                </a:solidFill>
                <a:latin typeface="Arial"/>
                <a:ea typeface="Arial"/>
                <a:cs typeface="Arial"/>
                <a:sym typeface="Arial"/>
              </a:rPr>
              <a:t>Users </a:t>
            </a:r>
            <a:r>
              <a:rPr lang="en-US" sz="2599">
                <a:solidFill>
                  <a:srgbClr val="000000"/>
                </a:solidFill>
                <a:latin typeface="Arial"/>
                <a:ea typeface="Arial"/>
                <a:cs typeface="Arial"/>
                <a:sym typeface="Arial"/>
              </a:rPr>
              <a:t>o</a:t>
            </a:r>
            <a:r>
              <a:rPr lang="en-US" sz="2599">
                <a:solidFill>
                  <a:srgbClr val="000000"/>
                </a:solidFill>
                <a:latin typeface="Arial"/>
                <a:ea typeface="Arial"/>
                <a:cs typeface="Arial"/>
                <a:sym typeface="Arial"/>
              </a:rPr>
              <a:t>f</a:t>
            </a:r>
            <a:r>
              <a:rPr lang="en-US" sz="2599">
                <a:solidFill>
                  <a:srgbClr val="000000"/>
                </a:solidFill>
                <a:latin typeface="Arial"/>
                <a:ea typeface="Arial"/>
                <a:cs typeface="Arial"/>
                <a:sym typeface="Arial"/>
              </a:rPr>
              <a:t>t</a:t>
            </a:r>
            <a:r>
              <a:rPr lang="en-US" sz="2599">
                <a:solidFill>
                  <a:srgbClr val="000000"/>
                </a:solidFill>
                <a:latin typeface="Arial"/>
                <a:ea typeface="Arial"/>
                <a:cs typeface="Arial"/>
                <a:sym typeface="Arial"/>
              </a:rPr>
              <a:t>en</a:t>
            </a:r>
            <a:r>
              <a:rPr lang="en-US" sz="2599">
                <a:solidFill>
                  <a:srgbClr val="000000"/>
                </a:solidFill>
                <a:latin typeface="Arial"/>
                <a:ea typeface="Arial"/>
                <a:cs typeface="Arial"/>
                <a:sym typeface="Arial"/>
              </a:rPr>
              <a:t> </a:t>
            </a:r>
            <a:r>
              <a:rPr lang="en-US" sz="2599">
                <a:solidFill>
                  <a:srgbClr val="000000"/>
                </a:solidFill>
                <a:latin typeface="Arial"/>
                <a:ea typeface="Arial"/>
                <a:cs typeface="Arial"/>
                <a:sym typeface="Arial"/>
              </a:rPr>
              <a:t>l</a:t>
            </a:r>
            <a:r>
              <a:rPr lang="en-US" sz="2599">
                <a:solidFill>
                  <a:srgbClr val="000000"/>
                </a:solidFill>
                <a:latin typeface="Arial"/>
                <a:ea typeface="Arial"/>
                <a:cs typeface="Arial"/>
                <a:sym typeface="Arial"/>
              </a:rPr>
              <a:t>a</a:t>
            </a:r>
            <a:r>
              <a:rPr lang="en-US" sz="2599">
                <a:solidFill>
                  <a:srgbClr val="000000"/>
                </a:solidFill>
                <a:latin typeface="Arial"/>
                <a:ea typeface="Arial"/>
                <a:cs typeface="Arial"/>
                <a:sym typeface="Arial"/>
              </a:rPr>
              <a:t>ck a simple way to verify an offer before shar</a:t>
            </a:r>
            <a:r>
              <a:rPr lang="en-US" sz="2599">
                <a:solidFill>
                  <a:srgbClr val="000000"/>
                </a:solidFill>
                <a:latin typeface="Arial"/>
                <a:ea typeface="Arial"/>
                <a:cs typeface="Arial"/>
                <a:sym typeface="Arial"/>
              </a:rPr>
              <a:t>i</a:t>
            </a:r>
            <a:r>
              <a:rPr lang="en-US" sz="2599">
                <a:solidFill>
                  <a:srgbClr val="000000"/>
                </a:solidFill>
                <a:latin typeface="Arial"/>
                <a:ea typeface="Arial"/>
                <a:cs typeface="Arial"/>
                <a:sym typeface="Arial"/>
              </a:rPr>
              <a:t>ng informa</a:t>
            </a:r>
            <a:r>
              <a:rPr lang="en-US" sz="2599">
                <a:solidFill>
                  <a:srgbClr val="000000"/>
                </a:solidFill>
                <a:latin typeface="Arial"/>
                <a:ea typeface="Arial"/>
                <a:cs typeface="Arial"/>
                <a:sym typeface="Arial"/>
              </a:rPr>
              <a:t>t</a:t>
            </a:r>
            <a:r>
              <a:rPr lang="en-US" sz="2599">
                <a:solidFill>
                  <a:srgbClr val="000000"/>
                </a:solidFill>
                <a:latin typeface="Arial"/>
                <a:ea typeface="Arial"/>
                <a:cs typeface="Arial"/>
                <a:sym typeface="Arial"/>
              </a:rPr>
              <a:t>ion</a:t>
            </a:r>
            <a:r>
              <a:rPr lang="en-US" sz="2599">
                <a:solidFill>
                  <a:srgbClr val="000000"/>
                </a:solidFill>
                <a:latin typeface="Arial"/>
                <a:ea typeface="Arial"/>
                <a:cs typeface="Arial"/>
                <a:sym typeface="Arial"/>
              </a:rPr>
              <a:t> </a:t>
            </a:r>
            <a:r>
              <a:rPr lang="en-US" sz="2599">
                <a:solidFill>
                  <a:srgbClr val="000000"/>
                </a:solidFill>
                <a:latin typeface="Arial"/>
                <a:ea typeface="Arial"/>
                <a:cs typeface="Arial"/>
                <a:sym typeface="Arial"/>
              </a:rPr>
              <a:t>o</a:t>
            </a:r>
            <a:r>
              <a:rPr lang="en-US" sz="2599">
                <a:solidFill>
                  <a:srgbClr val="000000"/>
                </a:solidFill>
                <a:latin typeface="Arial"/>
                <a:ea typeface="Arial"/>
                <a:cs typeface="Arial"/>
                <a:sym typeface="Arial"/>
              </a:rPr>
              <a:t>r</a:t>
            </a:r>
            <a:r>
              <a:rPr lang="en-US" sz="2599">
                <a:solidFill>
                  <a:srgbClr val="000000"/>
                </a:solidFill>
                <a:latin typeface="Arial"/>
                <a:ea typeface="Arial"/>
                <a:cs typeface="Arial"/>
                <a:sym typeface="Arial"/>
              </a:rPr>
              <a:t> t</a:t>
            </a:r>
            <a:r>
              <a:rPr lang="en-US" sz="2599">
                <a:solidFill>
                  <a:srgbClr val="000000"/>
                </a:solidFill>
                <a:latin typeface="Arial"/>
                <a:ea typeface="Arial"/>
                <a:cs typeface="Arial"/>
                <a:sym typeface="Arial"/>
              </a:rPr>
              <a:t>aking </a:t>
            </a:r>
            <a:r>
              <a:rPr lang="en-US" sz="2599">
                <a:solidFill>
                  <a:srgbClr val="000000"/>
                </a:solidFill>
                <a:latin typeface="Arial"/>
                <a:ea typeface="Arial"/>
                <a:cs typeface="Arial"/>
                <a:sym typeface="Arial"/>
              </a:rPr>
              <a:t>action.</a:t>
            </a:r>
          </a:p>
          <a:p>
            <a:pPr algn="l" marL="561337" indent="-280669" lvl="1">
              <a:lnSpc>
                <a:spcPts val="3119"/>
              </a:lnSpc>
              <a:buFont typeface="Arial"/>
              <a:buChar char="•"/>
            </a:pPr>
            <a:r>
              <a:rPr lang="en-US" sz="2599">
                <a:solidFill>
                  <a:srgbClr val="000000"/>
                </a:solidFill>
                <a:latin typeface="Arial"/>
                <a:ea typeface="Arial"/>
                <a:cs typeface="Arial"/>
                <a:sym typeface="Arial"/>
              </a:rPr>
              <a:t>A</a:t>
            </a:r>
            <a:r>
              <a:rPr lang="en-US" sz="2599">
                <a:solidFill>
                  <a:srgbClr val="000000"/>
                </a:solidFill>
                <a:latin typeface="Arial"/>
                <a:ea typeface="Arial"/>
                <a:cs typeface="Arial"/>
                <a:sym typeface="Arial"/>
              </a:rPr>
              <a:t> </a:t>
            </a:r>
            <a:r>
              <a:rPr lang="en-US" sz="2599">
                <a:solidFill>
                  <a:srgbClr val="000000"/>
                </a:solidFill>
                <a:latin typeface="Arial"/>
                <a:ea typeface="Arial"/>
                <a:cs typeface="Arial"/>
                <a:sym typeface="Arial"/>
              </a:rPr>
              <a:t>n</a:t>
            </a:r>
            <a:r>
              <a:rPr lang="en-US" sz="2599">
                <a:solidFill>
                  <a:srgbClr val="000000"/>
                </a:solidFill>
                <a:latin typeface="Arial"/>
                <a:ea typeface="Arial"/>
                <a:cs typeface="Arial"/>
                <a:sym typeface="Arial"/>
              </a:rPr>
              <a:t>eed</a:t>
            </a:r>
            <a:r>
              <a:rPr lang="en-US" sz="2599">
                <a:solidFill>
                  <a:srgbClr val="000000"/>
                </a:solidFill>
                <a:latin typeface="Arial"/>
                <a:ea typeface="Arial"/>
                <a:cs typeface="Arial"/>
                <a:sym typeface="Arial"/>
              </a:rPr>
              <a:t> exists for an AI-based system that can identify warning signs and provide clear verification guidance.</a:t>
            </a:r>
          </a:p>
          <a:p>
            <a:pPr algn="l">
              <a:lnSpc>
                <a:spcPts val="3119"/>
              </a:lnSpc>
            </a:pPr>
            <a:r>
              <a:rPr lang="en-US" sz="2599" b="true">
                <a:solidFill>
                  <a:srgbClr val="000000"/>
                </a:solidFill>
                <a:latin typeface="Arial Bold"/>
                <a:ea typeface="Arial Bold"/>
                <a:cs typeface="Arial Bold"/>
                <a:sym typeface="Arial Bold"/>
              </a:rPr>
              <a:t>Objective</a:t>
            </a:r>
          </a:p>
          <a:p>
            <a:pPr algn="l" marL="561337" indent="-280669" lvl="1">
              <a:lnSpc>
                <a:spcPts val="3119"/>
              </a:lnSpc>
              <a:buAutoNum type="arabicPeriod" startAt="1"/>
            </a:pPr>
            <a:r>
              <a:rPr lang="en-US" sz="2599">
                <a:solidFill>
                  <a:srgbClr val="000000"/>
                </a:solidFill>
                <a:latin typeface="Arial"/>
                <a:ea typeface="Arial"/>
                <a:cs typeface="Arial"/>
                <a:sym typeface="Arial"/>
              </a:rPr>
              <a:t>Extr</a:t>
            </a:r>
            <a:r>
              <a:rPr lang="en-US" sz="2599">
                <a:solidFill>
                  <a:srgbClr val="000000"/>
                </a:solidFill>
                <a:latin typeface="Arial"/>
                <a:ea typeface="Arial"/>
                <a:cs typeface="Arial"/>
                <a:sym typeface="Arial"/>
              </a:rPr>
              <a:t>a</a:t>
            </a:r>
            <a:r>
              <a:rPr lang="en-US" sz="2599">
                <a:solidFill>
                  <a:srgbClr val="000000"/>
                </a:solidFill>
                <a:latin typeface="Arial"/>
                <a:ea typeface="Arial"/>
                <a:cs typeface="Arial"/>
                <a:sym typeface="Arial"/>
              </a:rPr>
              <a:t>c</a:t>
            </a:r>
            <a:r>
              <a:rPr lang="en-US" sz="2599">
                <a:solidFill>
                  <a:srgbClr val="000000"/>
                </a:solidFill>
                <a:latin typeface="Arial"/>
                <a:ea typeface="Arial"/>
                <a:cs typeface="Arial"/>
                <a:sym typeface="Arial"/>
              </a:rPr>
              <a:t>t </a:t>
            </a:r>
            <a:r>
              <a:rPr lang="en-US" sz="2599">
                <a:solidFill>
                  <a:srgbClr val="000000"/>
                </a:solidFill>
                <a:latin typeface="Arial"/>
                <a:ea typeface="Arial"/>
                <a:cs typeface="Arial"/>
                <a:sym typeface="Arial"/>
              </a:rPr>
              <a:t>imp</a:t>
            </a:r>
            <a:r>
              <a:rPr lang="en-US" sz="2599">
                <a:solidFill>
                  <a:srgbClr val="000000"/>
                </a:solidFill>
                <a:latin typeface="Arial"/>
                <a:ea typeface="Arial"/>
                <a:cs typeface="Arial"/>
                <a:sym typeface="Arial"/>
              </a:rPr>
              <a:t>o</a:t>
            </a:r>
            <a:r>
              <a:rPr lang="en-US" sz="2599">
                <a:solidFill>
                  <a:srgbClr val="000000"/>
                </a:solidFill>
                <a:latin typeface="Arial"/>
                <a:ea typeface="Arial"/>
                <a:cs typeface="Arial"/>
                <a:sym typeface="Arial"/>
              </a:rPr>
              <a:t>rtant details from job/internship offers.</a:t>
            </a:r>
          </a:p>
          <a:p>
            <a:pPr algn="l" marL="561337" indent="-280669" lvl="1">
              <a:lnSpc>
                <a:spcPts val="3119"/>
              </a:lnSpc>
              <a:buAutoNum type="arabicPeriod" startAt="1"/>
            </a:pPr>
            <a:r>
              <a:rPr lang="en-US" sz="2599">
                <a:solidFill>
                  <a:srgbClr val="000000"/>
                </a:solidFill>
                <a:latin typeface="Arial"/>
                <a:ea typeface="Arial"/>
                <a:cs typeface="Arial"/>
                <a:sym typeface="Arial"/>
              </a:rPr>
              <a:t>Verify compan</a:t>
            </a:r>
            <a:r>
              <a:rPr lang="en-US" sz="2599">
                <a:solidFill>
                  <a:srgbClr val="000000"/>
                </a:solidFill>
                <a:latin typeface="Arial"/>
                <a:ea typeface="Arial"/>
                <a:cs typeface="Arial"/>
                <a:sym typeface="Arial"/>
              </a:rPr>
              <a:t>y</a:t>
            </a:r>
            <a:r>
              <a:rPr lang="en-US" sz="2599">
                <a:solidFill>
                  <a:srgbClr val="000000"/>
                </a:solidFill>
                <a:latin typeface="Arial"/>
                <a:ea typeface="Arial"/>
                <a:cs typeface="Arial"/>
                <a:sym typeface="Arial"/>
              </a:rPr>
              <a:t>, r</a:t>
            </a:r>
            <a:r>
              <a:rPr lang="en-US" sz="2599">
                <a:solidFill>
                  <a:srgbClr val="000000"/>
                </a:solidFill>
                <a:latin typeface="Arial"/>
                <a:ea typeface="Arial"/>
                <a:cs typeface="Arial"/>
                <a:sym typeface="Arial"/>
              </a:rPr>
              <a:t>e</a:t>
            </a:r>
            <a:r>
              <a:rPr lang="en-US" sz="2599">
                <a:solidFill>
                  <a:srgbClr val="000000"/>
                </a:solidFill>
                <a:latin typeface="Arial"/>
                <a:ea typeface="Arial"/>
                <a:cs typeface="Arial"/>
                <a:sym typeface="Arial"/>
              </a:rPr>
              <a:t>cr</a:t>
            </a:r>
            <a:r>
              <a:rPr lang="en-US" sz="2599">
                <a:solidFill>
                  <a:srgbClr val="000000"/>
                </a:solidFill>
                <a:latin typeface="Arial"/>
                <a:ea typeface="Arial"/>
                <a:cs typeface="Arial"/>
                <a:sym typeface="Arial"/>
              </a:rPr>
              <a:t>u</a:t>
            </a:r>
            <a:r>
              <a:rPr lang="en-US" sz="2599">
                <a:solidFill>
                  <a:srgbClr val="000000"/>
                </a:solidFill>
                <a:latin typeface="Arial"/>
                <a:ea typeface="Arial"/>
                <a:cs typeface="Arial"/>
                <a:sym typeface="Arial"/>
              </a:rPr>
              <a:t>i</a:t>
            </a:r>
            <a:r>
              <a:rPr lang="en-US" sz="2599">
                <a:solidFill>
                  <a:srgbClr val="000000"/>
                </a:solidFill>
                <a:latin typeface="Arial"/>
                <a:ea typeface="Arial"/>
                <a:cs typeface="Arial"/>
                <a:sym typeface="Arial"/>
              </a:rPr>
              <a:t>t</a:t>
            </a:r>
            <a:r>
              <a:rPr lang="en-US" sz="2599">
                <a:solidFill>
                  <a:srgbClr val="000000"/>
                </a:solidFill>
                <a:latin typeface="Arial"/>
                <a:ea typeface="Arial"/>
                <a:cs typeface="Arial"/>
                <a:sym typeface="Arial"/>
              </a:rPr>
              <a:t>e</a:t>
            </a:r>
            <a:r>
              <a:rPr lang="en-US" sz="2599">
                <a:solidFill>
                  <a:srgbClr val="000000"/>
                </a:solidFill>
                <a:latin typeface="Arial"/>
                <a:ea typeface="Arial"/>
                <a:cs typeface="Arial"/>
                <a:sym typeface="Arial"/>
              </a:rPr>
              <a:t>r</a:t>
            </a:r>
            <a:r>
              <a:rPr lang="en-US" sz="2599">
                <a:solidFill>
                  <a:srgbClr val="000000"/>
                </a:solidFill>
                <a:latin typeface="Arial"/>
                <a:ea typeface="Arial"/>
                <a:cs typeface="Arial"/>
                <a:sym typeface="Arial"/>
              </a:rPr>
              <a:t>, d</a:t>
            </a:r>
            <a:r>
              <a:rPr lang="en-US" sz="2599">
                <a:solidFill>
                  <a:srgbClr val="000000"/>
                </a:solidFill>
                <a:latin typeface="Arial"/>
                <a:ea typeface="Arial"/>
                <a:cs typeface="Arial"/>
                <a:sym typeface="Arial"/>
              </a:rPr>
              <a:t>o</a:t>
            </a:r>
            <a:r>
              <a:rPr lang="en-US" sz="2599">
                <a:solidFill>
                  <a:srgbClr val="000000"/>
                </a:solidFill>
                <a:latin typeface="Arial"/>
                <a:ea typeface="Arial"/>
                <a:cs typeface="Arial"/>
                <a:sym typeface="Arial"/>
              </a:rPr>
              <a:t>mai</a:t>
            </a:r>
            <a:r>
              <a:rPr lang="en-US" sz="2599">
                <a:solidFill>
                  <a:srgbClr val="000000"/>
                </a:solidFill>
                <a:latin typeface="Arial"/>
                <a:ea typeface="Arial"/>
                <a:cs typeface="Arial"/>
                <a:sym typeface="Arial"/>
              </a:rPr>
              <a:t>n</a:t>
            </a:r>
            <a:r>
              <a:rPr lang="en-US" sz="2599">
                <a:solidFill>
                  <a:srgbClr val="000000"/>
                </a:solidFill>
                <a:latin typeface="Arial"/>
                <a:ea typeface="Arial"/>
                <a:cs typeface="Arial"/>
                <a:sym typeface="Arial"/>
              </a:rPr>
              <a:t>,</a:t>
            </a:r>
            <a:r>
              <a:rPr lang="en-US" sz="2599">
                <a:solidFill>
                  <a:srgbClr val="000000"/>
                </a:solidFill>
                <a:latin typeface="Arial"/>
                <a:ea typeface="Arial"/>
                <a:cs typeface="Arial"/>
                <a:sym typeface="Arial"/>
              </a:rPr>
              <a:t> </a:t>
            </a:r>
            <a:r>
              <a:rPr lang="en-US" sz="2599">
                <a:solidFill>
                  <a:srgbClr val="000000"/>
                </a:solidFill>
                <a:latin typeface="Arial"/>
                <a:ea typeface="Arial"/>
                <a:cs typeface="Arial"/>
                <a:sym typeface="Arial"/>
              </a:rPr>
              <a:t>a</a:t>
            </a:r>
            <a:r>
              <a:rPr lang="en-US" sz="2599">
                <a:solidFill>
                  <a:srgbClr val="000000"/>
                </a:solidFill>
                <a:latin typeface="Arial"/>
                <a:ea typeface="Arial"/>
                <a:cs typeface="Arial"/>
                <a:sym typeface="Arial"/>
              </a:rPr>
              <a:t>nd </a:t>
            </a:r>
            <a:r>
              <a:rPr lang="en-US" sz="2599">
                <a:solidFill>
                  <a:srgbClr val="000000"/>
                </a:solidFill>
                <a:latin typeface="Arial"/>
                <a:ea typeface="Arial"/>
                <a:cs typeface="Arial"/>
                <a:sym typeface="Arial"/>
              </a:rPr>
              <a:t>co</a:t>
            </a:r>
            <a:r>
              <a:rPr lang="en-US" sz="2599">
                <a:solidFill>
                  <a:srgbClr val="000000"/>
                </a:solidFill>
                <a:latin typeface="Arial"/>
                <a:ea typeface="Arial"/>
                <a:cs typeface="Arial"/>
                <a:sym typeface="Arial"/>
              </a:rPr>
              <a:t>nt</a:t>
            </a:r>
            <a:r>
              <a:rPr lang="en-US" sz="2599">
                <a:solidFill>
                  <a:srgbClr val="000000"/>
                </a:solidFill>
                <a:latin typeface="Arial"/>
                <a:ea typeface="Arial"/>
                <a:cs typeface="Arial"/>
                <a:sym typeface="Arial"/>
              </a:rPr>
              <a:t>act information.</a:t>
            </a:r>
          </a:p>
          <a:p>
            <a:pPr algn="l" marL="561337" indent="-280669" lvl="1">
              <a:lnSpc>
                <a:spcPts val="3119"/>
              </a:lnSpc>
              <a:buAutoNum type="arabicPeriod" startAt="1"/>
            </a:pPr>
            <a:r>
              <a:rPr lang="en-US" sz="2599">
                <a:solidFill>
                  <a:srgbClr val="000000"/>
                </a:solidFill>
                <a:latin typeface="Arial"/>
                <a:ea typeface="Arial"/>
                <a:cs typeface="Arial"/>
                <a:sym typeface="Arial"/>
              </a:rPr>
              <a:t>Det</a:t>
            </a:r>
            <a:r>
              <a:rPr lang="en-US" sz="2599">
                <a:solidFill>
                  <a:srgbClr val="000000"/>
                </a:solidFill>
                <a:latin typeface="Arial"/>
                <a:ea typeface="Arial"/>
                <a:cs typeface="Arial"/>
                <a:sym typeface="Arial"/>
              </a:rPr>
              <a:t>ect</a:t>
            </a:r>
            <a:r>
              <a:rPr lang="en-US" sz="2599">
                <a:solidFill>
                  <a:srgbClr val="000000"/>
                </a:solidFill>
                <a:latin typeface="Arial"/>
                <a:ea typeface="Arial"/>
                <a:cs typeface="Arial"/>
                <a:sym typeface="Arial"/>
              </a:rPr>
              <a:t> common </a:t>
            </a:r>
            <a:r>
              <a:rPr lang="en-US" sz="2599">
                <a:solidFill>
                  <a:srgbClr val="000000"/>
                </a:solidFill>
                <a:latin typeface="Arial"/>
                <a:ea typeface="Arial"/>
                <a:cs typeface="Arial"/>
                <a:sym typeface="Arial"/>
              </a:rPr>
              <a:t>scam i</a:t>
            </a:r>
            <a:r>
              <a:rPr lang="en-US" sz="2599">
                <a:solidFill>
                  <a:srgbClr val="000000"/>
                </a:solidFill>
                <a:latin typeface="Arial"/>
                <a:ea typeface="Arial"/>
                <a:cs typeface="Arial"/>
                <a:sym typeface="Arial"/>
              </a:rPr>
              <a:t>n</a:t>
            </a:r>
            <a:r>
              <a:rPr lang="en-US" sz="2599">
                <a:solidFill>
                  <a:srgbClr val="000000"/>
                </a:solidFill>
                <a:latin typeface="Arial"/>
                <a:ea typeface="Arial"/>
                <a:cs typeface="Arial"/>
                <a:sym typeface="Arial"/>
              </a:rPr>
              <a:t>dica</a:t>
            </a:r>
            <a:r>
              <a:rPr lang="en-US" sz="2599">
                <a:solidFill>
                  <a:srgbClr val="000000"/>
                </a:solidFill>
                <a:latin typeface="Arial"/>
                <a:ea typeface="Arial"/>
                <a:cs typeface="Arial"/>
                <a:sym typeface="Arial"/>
              </a:rPr>
              <a:t>t</a:t>
            </a:r>
            <a:r>
              <a:rPr lang="en-US" sz="2599">
                <a:solidFill>
                  <a:srgbClr val="000000"/>
                </a:solidFill>
                <a:latin typeface="Arial"/>
                <a:ea typeface="Arial"/>
                <a:cs typeface="Arial"/>
                <a:sym typeface="Arial"/>
              </a:rPr>
              <a:t>ors and suspicious patterns.</a:t>
            </a:r>
          </a:p>
          <a:p>
            <a:pPr algn="l" marL="561337" indent="-280669" lvl="1">
              <a:lnSpc>
                <a:spcPts val="3119"/>
              </a:lnSpc>
              <a:buAutoNum type="arabicPeriod" startAt="1"/>
            </a:pPr>
            <a:r>
              <a:rPr lang="en-US" sz="2599">
                <a:solidFill>
                  <a:srgbClr val="000000"/>
                </a:solidFill>
                <a:latin typeface="Arial"/>
                <a:ea typeface="Arial"/>
                <a:cs typeface="Arial"/>
                <a:sym typeface="Arial"/>
              </a:rPr>
              <a:t>An</a:t>
            </a:r>
            <a:r>
              <a:rPr lang="en-US" sz="2599">
                <a:solidFill>
                  <a:srgbClr val="000000"/>
                </a:solidFill>
                <a:latin typeface="Arial"/>
                <a:ea typeface="Arial"/>
                <a:cs typeface="Arial"/>
                <a:sym typeface="Arial"/>
              </a:rPr>
              <a:t>al</a:t>
            </a:r>
            <a:r>
              <a:rPr lang="en-US" sz="2599">
                <a:solidFill>
                  <a:srgbClr val="000000"/>
                </a:solidFill>
                <a:latin typeface="Arial"/>
                <a:ea typeface="Arial"/>
                <a:cs typeface="Arial"/>
                <a:sym typeface="Arial"/>
              </a:rPr>
              <a:t>yze</a:t>
            </a:r>
            <a:r>
              <a:rPr lang="en-US" sz="2599">
                <a:solidFill>
                  <a:srgbClr val="000000"/>
                </a:solidFill>
                <a:latin typeface="Arial"/>
                <a:ea typeface="Arial"/>
                <a:cs typeface="Arial"/>
                <a:sym typeface="Arial"/>
              </a:rPr>
              <a:t> </a:t>
            </a:r>
            <a:r>
              <a:rPr lang="en-US" sz="2599">
                <a:solidFill>
                  <a:srgbClr val="000000"/>
                </a:solidFill>
                <a:latin typeface="Arial"/>
                <a:ea typeface="Arial"/>
                <a:cs typeface="Arial"/>
                <a:sym typeface="Arial"/>
              </a:rPr>
              <a:t>cons</a:t>
            </a:r>
            <a:r>
              <a:rPr lang="en-US" sz="2599">
                <a:solidFill>
                  <a:srgbClr val="000000"/>
                </a:solidFill>
                <a:latin typeface="Arial"/>
                <a:ea typeface="Arial"/>
                <a:cs typeface="Arial"/>
                <a:sym typeface="Arial"/>
              </a:rPr>
              <a:t>is</a:t>
            </a:r>
            <a:r>
              <a:rPr lang="en-US" sz="2599">
                <a:solidFill>
                  <a:srgbClr val="000000"/>
                </a:solidFill>
                <a:latin typeface="Arial"/>
                <a:ea typeface="Arial"/>
                <a:cs typeface="Arial"/>
                <a:sym typeface="Arial"/>
              </a:rPr>
              <a:t>tenc</a:t>
            </a:r>
            <a:r>
              <a:rPr lang="en-US" sz="2599">
                <a:solidFill>
                  <a:srgbClr val="000000"/>
                </a:solidFill>
                <a:latin typeface="Arial"/>
                <a:ea typeface="Arial"/>
                <a:cs typeface="Arial"/>
                <a:sym typeface="Arial"/>
              </a:rPr>
              <a:t>y </a:t>
            </a:r>
            <a:r>
              <a:rPr lang="en-US" sz="2599">
                <a:solidFill>
                  <a:srgbClr val="000000"/>
                </a:solidFill>
                <a:latin typeface="Arial"/>
                <a:ea typeface="Arial"/>
                <a:cs typeface="Arial"/>
                <a:sym typeface="Arial"/>
              </a:rPr>
              <a:t>b</a:t>
            </a:r>
            <a:r>
              <a:rPr lang="en-US" sz="2599">
                <a:solidFill>
                  <a:srgbClr val="000000"/>
                </a:solidFill>
                <a:latin typeface="Arial"/>
                <a:ea typeface="Arial"/>
                <a:cs typeface="Arial"/>
                <a:sym typeface="Arial"/>
              </a:rPr>
              <a:t>et</a:t>
            </a:r>
            <a:r>
              <a:rPr lang="en-US" sz="2599">
                <a:solidFill>
                  <a:srgbClr val="000000"/>
                </a:solidFill>
                <a:latin typeface="Arial"/>
                <a:ea typeface="Arial"/>
                <a:cs typeface="Arial"/>
                <a:sym typeface="Arial"/>
              </a:rPr>
              <a:t>ween different offer details.</a:t>
            </a:r>
          </a:p>
          <a:p>
            <a:pPr algn="l" marL="561337" indent="-280669" lvl="1">
              <a:lnSpc>
                <a:spcPts val="3119"/>
              </a:lnSpc>
              <a:buAutoNum type="arabicPeriod" startAt="1"/>
            </a:pPr>
            <a:r>
              <a:rPr lang="en-US" sz="2599">
                <a:solidFill>
                  <a:srgbClr val="000000"/>
                </a:solidFill>
                <a:latin typeface="Arial"/>
                <a:ea typeface="Arial"/>
                <a:cs typeface="Arial"/>
                <a:sym typeface="Arial"/>
              </a:rPr>
              <a:t>G</a:t>
            </a:r>
            <a:r>
              <a:rPr lang="en-US" sz="2599">
                <a:solidFill>
                  <a:srgbClr val="000000"/>
                </a:solidFill>
                <a:latin typeface="Arial"/>
                <a:ea typeface="Arial"/>
                <a:cs typeface="Arial"/>
                <a:sym typeface="Arial"/>
              </a:rPr>
              <a:t>e</a:t>
            </a:r>
            <a:r>
              <a:rPr lang="en-US" sz="2599">
                <a:solidFill>
                  <a:srgbClr val="000000"/>
                </a:solidFill>
                <a:latin typeface="Arial"/>
                <a:ea typeface="Arial"/>
                <a:cs typeface="Arial"/>
                <a:sym typeface="Arial"/>
              </a:rPr>
              <a:t>n</a:t>
            </a:r>
            <a:r>
              <a:rPr lang="en-US" sz="2599">
                <a:solidFill>
                  <a:srgbClr val="000000"/>
                </a:solidFill>
                <a:latin typeface="Arial"/>
                <a:ea typeface="Arial"/>
                <a:cs typeface="Arial"/>
                <a:sym typeface="Arial"/>
              </a:rPr>
              <a:t>e</a:t>
            </a:r>
            <a:r>
              <a:rPr lang="en-US" sz="2599">
                <a:solidFill>
                  <a:srgbClr val="000000"/>
                </a:solidFill>
                <a:latin typeface="Arial"/>
                <a:ea typeface="Arial"/>
                <a:cs typeface="Arial"/>
                <a:sym typeface="Arial"/>
              </a:rPr>
              <a:t>r</a:t>
            </a:r>
            <a:r>
              <a:rPr lang="en-US" sz="2599">
                <a:solidFill>
                  <a:srgbClr val="000000"/>
                </a:solidFill>
                <a:latin typeface="Arial"/>
                <a:ea typeface="Arial"/>
                <a:cs typeface="Arial"/>
                <a:sym typeface="Arial"/>
              </a:rPr>
              <a:t>at</a:t>
            </a:r>
            <a:r>
              <a:rPr lang="en-US" sz="2599">
                <a:solidFill>
                  <a:srgbClr val="000000"/>
                </a:solidFill>
                <a:latin typeface="Arial"/>
                <a:ea typeface="Arial"/>
                <a:cs typeface="Arial"/>
                <a:sym typeface="Arial"/>
              </a:rPr>
              <a:t>e an explainable risk </a:t>
            </a:r>
            <a:r>
              <a:rPr lang="en-US" sz="2599">
                <a:solidFill>
                  <a:srgbClr val="000000"/>
                </a:solidFill>
                <a:latin typeface="Arial"/>
                <a:ea typeface="Arial"/>
                <a:cs typeface="Arial"/>
                <a:sym typeface="Arial"/>
              </a:rPr>
              <a:t>s</a:t>
            </a:r>
            <a:r>
              <a:rPr lang="en-US" sz="2599">
                <a:solidFill>
                  <a:srgbClr val="000000"/>
                </a:solidFill>
                <a:latin typeface="Arial"/>
                <a:ea typeface="Arial"/>
                <a:cs typeface="Arial"/>
                <a:sym typeface="Arial"/>
              </a:rPr>
              <a:t>core </a:t>
            </a:r>
            <a:r>
              <a:rPr lang="en-US" sz="2599">
                <a:solidFill>
                  <a:srgbClr val="000000"/>
                </a:solidFill>
                <a:latin typeface="Arial"/>
                <a:ea typeface="Arial"/>
                <a:cs typeface="Arial"/>
                <a:sym typeface="Arial"/>
              </a:rPr>
              <a:t>a</a:t>
            </a:r>
            <a:r>
              <a:rPr lang="en-US" sz="2599">
                <a:solidFill>
                  <a:srgbClr val="000000"/>
                </a:solidFill>
                <a:latin typeface="Arial"/>
                <a:ea typeface="Arial"/>
                <a:cs typeface="Arial"/>
                <a:sym typeface="Arial"/>
              </a:rPr>
              <a:t>nd verif</a:t>
            </a:r>
            <a:r>
              <a:rPr lang="en-US" sz="2599">
                <a:solidFill>
                  <a:srgbClr val="000000"/>
                </a:solidFill>
                <a:latin typeface="Arial"/>
                <a:ea typeface="Arial"/>
                <a:cs typeface="Arial"/>
                <a:sym typeface="Arial"/>
              </a:rPr>
              <a:t>i</a:t>
            </a:r>
            <a:r>
              <a:rPr lang="en-US" sz="2599">
                <a:solidFill>
                  <a:srgbClr val="000000"/>
                </a:solidFill>
                <a:latin typeface="Arial"/>
                <a:ea typeface="Arial"/>
                <a:cs typeface="Arial"/>
                <a:sym typeface="Arial"/>
              </a:rPr>
              <a:t>c</a:t>
            </a:r>
            <a:r>
              <a:rPr lang="en-US" sz="2599">
                <a:solidFill>
                  <a:srgbClr val="000000"/>
                </a:solidFill>
                <a:latin typeface="Arial"/>
                <a:ea typeface="Arial"/>
                <a:cs typeface="Arial"/>
                <a:sym typeface="Arial"/>
              </a:rPr>
              <a:t>ation </a:t>
            </a:r>
            <a:r>
              <a:rPr lang="en-US" sz="2599">
                <a:solidFill>
                  <a:srgbClr val="000000"/>
                </a:solidFill>
                <a:latin typeface="Arial"/>
                <a:ea typeface="Arial"/>
                <a:cs typeface="Arial"/>
                <a:sym typeface="Arial"/>
              </a:rPr>
              <a:t>re</a:t>
            </a:r>
            <a:r>
              <a:rPr lang="en-US" sz="2599">
                <a:solidFill>
                  <a:srgbClr val="000000"/>
                </a:solidFill>
                <a:latin typeface="Arial"/>
                <a:ea typeface="Arial"/>
                <a:cs typeface="Arial"/>
                <a:sym typeface="Arial"/>
              </a:rPr>
              <a:t>s</a:t>
            </a:r>
            <a:r>
              <a:rPr lang="en-US" sz="2599">
                <a:solidFill>
                  <a:srgbClr val="000000"/>
                </a:solidFill>
                <a:latin typeface="Arial"/>
                <a:ea typeface="Arial"/>
                <a:cs typeface="Arial"/>
                <a:sym typeface="Arial"/>
              </a:rPr>
              <a:t>ult.</a:t>
            </a:r>
          </a:p>
          <a:p>
            <a:pPr algn="l" marL="561337" indent="-280669" lvl="1">
              <a:lnSpc>
                <a:spcPts val="3119"/>
              </a:lnSpc>
              <a:buAutoNum type="arabicPeriod" startAt="1"/>
            </a:pPr>
            <a:r>
              <a:rPr lang="en-US" sz="2599">
                <a:solidFill>
                  <a:srgbClr val="000000"/>
                </a:solidFill>
                <a:latin typeface="Arial"/>
                <a:ea typeface="Arial"/>
                <a:cs typeface="Arial"/>
                <a:sym typeface="Arial"/>
              </a:rPr>
              <a:t>P</a:t>
            </a:r>
            <a:r>
              <a:rPr lang="en-US" sz="2599">
                <a:solidFill>
                  <a:srgbClr val="000000"/>
                </a:solidFill>
                <a:latin typeface="Arial"/>
                <a:ea typeface="Arial"/>
                <a:cs typeface="Arial"/>
                <a:sym typeface="Arial"/>
              </a:rPr>
              <a:t>r</a:t>
            </a:r>
            <a:r>
              <a:rPr lang="en-US" sz="2599">
                <a:solidFill>
                  <a:srgbClr val="000000"/>
                </a:solidFill>
                <a:latin typeface="Arial"/>
                <a:ea typeface="Arial"/>
                <a:cs typeface="Arial"/>
                <a:sym typeface="Arial"/>
              </a:rPr>
              <a:t>ovide clear safety recommendations and next steps.</a:t>
            </a:r>
          </a:p>
          <a:p>
            <a:pPr algn="l">
              <a:lnSpc>
                <a:spcPts val="3119"/>
              </a:lnSpc>
            </a:pPr>
          </a:p>
        </p:txBody>
      </p:sp>
      <p:sp>
        <p:nvSpPr>
          <p:cNvPr name="TextBox 3" id="3"/>
          <p:cNvSpPr txBox="true"/>
          <p:nvPr/>
        </p:nvSpPr>
        <p:spPr>
          <a:xfrm rot="0">
            <a:off x="955548" y="1073277"/>
            <a:ext cx="10639044" cy="629631"/>
          </a:xfrm>
          <a:prstGeom prst="rect">
            <a:avLst/>
          </a:prstGeom>
        </p:spPr>
        <p:txBody>
          <a:bodyPr anchor="t" rtlCol="false" tIns="0" lIns="0" bIns="0" rIns="0">
            <a:spAutoFit/>
          </a:bodyPr>
          <a:lstStyle/>
          <a:p>
            <a:pPr algn="l">
              <a:lnSpc>
                <a:spcPts val="4320"/>
              </a:lnSpc>
            </a:pPr>
            <a:r>
              <a:rPr lang="en-US" sz="3600" b="true">
                <a:solidFill>
                  <a:srgbClr val="000000"/>
                </a:solidFill>
                <a:latin typeface="Arial Bold"/>
                <a:ea typeface="Arial Bold"/>
                <a:cs typeface="Arial Bold"/>
                <a:sym typeface="Arial Bold"/>
              </a:rPr>
              <a:t>Problem Statement -</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301908" y="1614290"/>
            <a:ext cx="16260049" cy="9229725"/>
          </a:xfrm>
          <a:prstGeom prst="rect">
            <a:avLst/>
          </a:prstGeom>
        </p:spPr>
        <p:txBody>
          <a:bodyPr anchor="t" rtlCol="false" tIns="0" lIns="0" bIns="0" rIns="0">
            <a:spAutoFit/>
          </a:bodyPr>
          <a:lstStyle/>
          <a:p>
            <a:pPr algn="l">
              <a:lnSpc>
                <a:spcPts val="2520"/>
              </a:lnSpc>
            </a:pPr>
          </a:p>
          <a:p>
            <a:pPr algn="l">
              <a:lnSpc>
                <a:spcPts val="3359"/>
              </a:lnSpc>
            </a:pPr>
            <a:r>
              <a:rPr lang="en-US" sz="2799" b="true">
                <a:solidFill>
                  <a:srgbClr val="000000"/>
                </a:solidFill>
                <a:latin typeface="Arial Bold"/>
                <a:ea typeface="Arial Bold"/>
                <a:cs typeface="Arial Bold"/>
                <a:sym typeface="Arial Bold"/>
              </a:rPr>
              <a:t>Proposed Solution: AI Job &amp; Internship Scam and Offer Verification Agent</a:t>
            </a:r>
          </a:p>
          <a:p>
            <a:pPr algn="l" marL="453390" indent="-226695" lvl="1">
              <a:lnSpc>
                <a:spcPts val="2520"/>
              </a:lnSpc>
              <a:buAutoNum type="arabicPeriod" startAt="1"/>
            </a:pPr>
            <a:r>
              <a:rPr lang="en-US" b="true" sz="2100">
                <a:solidFill>
                  <a:srgbClr val="000000"/>
                </a:solidFill>
                <a:latin typeface="Arial Bold"/>
                <a:ea typeface="Arial Bold"/>
                <a:cs typeface="Arial Bold"/>
                <a:sym typeface="Arial Bold"/>
              </a:rPr>
              <a:t>Offer Submission &amp; Document Processing - </a:t>
            </a:r>
            <a:r>
              <a:rPr lang="en-US" sz="2100">
                <a:solidFill>
                  <a:srgbClr val="000000"/>
                </a:solidFill>
                <a:latin typeface="Arial"/>
                <a:ea typeface="Arial"/>
                <a:cs typeface="Arial"/>
                <a:sym typeface="Arial"/>
              </a:rPr>
              <a:t>Users can upload job/internship offer letters, screenshots, emails, or paste recruitment messages. The system extracts key information such as company name, recruiter, job role, salary, location, payment requests, contact details, and links.</a:t>
            </a:r>
          </a:p>
          <a:p>
            <a:pPr algn="l" marL="453390" indent="-226695" lvl="1">
              <a:lnSpc>
                <a:spcPts val="2520"/>
              </a:lnSpc>
              <a:buAutoNum type="arabicPeriod" startAt="1"/>
            </a:pPr>
            <a:r>
              <a:rPr lang="en-US" b="true" sz="2100">
                <a:solidFill>
                  <a:srgbClr val="000000"/>
                </a:solidFill>
                <a:latin typeface="Arial Bold"/>
                <a:ea typeface="Arial Bold"/>
                <a:cs typeface="Arial Bold"/>
                <a:sym typeface="Arial Bold"/>
              </a:rPr>
              <a:t>Company &amp; Recruiter Verification-  </a:t>
            </a:r>
            <a:r>
              <a:rPr lang="en-US" sz="2100">
                <a:solidFill>
                  <a:srgbClr val="000000"/>
                </a:solidFill>
                <a:latin typeface="Arial"/>
                <a:ea typeface="Arial"/>
                <a:cs typeface="Arial"/>
                <a:sym typeface="Arial"/>
              </a:rPr>
              <a:t>An AI verification agent checks the available company and recruiter information against public sources. It analyzes the official website, email domain, contact details, and other available information to identify possible mismatches or unverifiable details.</a:t>
            </a:r>
          </a:p>
          <a:p>
            <a:pPr algn="l" marL="453390" indent="-226695" lvl="1">
              <a:lnSpc>
                <a:spcPts val="2520"/>
              </a:lnSpc>
              <a:buAutoNum type="arabicPeriod" startAt="1"/>
            </a:pPr>
            <a:r>
              <a:rPr lang="en-US" b="true" sz="2100">
                <a:solidFill>
                  <a:srgbClr val="000000"/>
                </a:solidFill>
                <a:latin typeface="Arial Bold"/>
                <a:ea typeface="Arial Bold"/>
                <a:cs typeface="Arial Bold"/>
                <a:sym typeface="Arial Bold"/>
              </a:rPr>
              <a:t>Scam Indicator Detection - </a:t>
            </a:r>
            <a:r>
              <a:rPr lang="en-US" sz="2100">
                <a:solidFill>
                  <a:srgbClr val="000000"/>
                </a:solidFill>
                <a:latin typeface="Arial"/>
                <a:ea typeface="Arial"/>
                <a:cs typeface="Arial"/>
                <a:sym typeface="Arial"/>
              </a:rPr>
              <a:t>The system analyzes the offer for common warning signs such as registration fees, security deposits, paid training, unrealistic salaries, urgent payment requests, suspicious links, unusual recruitment processes, and requests for unnecessary sensitive information.</a:t>
            </a:r>
          </a:p>
          <a:p>
            <a:pPr algn="l" marL="453390" indent="-226695" lvl="1">
              <a:lnSpc>
                <a:spcPts val="2520"/>
              </a:lnSpc>
              <a:buAutoNum type="arabicPeriod" startAt="1"/>
            </a:pPr>
            <a:r>
              <a:rPr lang="en-US" b="true" sz="2100">
                <a:solidFill>
                  <a:srgbClr val="000000"/>
                </a:solidFill>
                <a:latin typeface="Arial Bold"/>
                <a:ea typeface="Arial Bold"/>
                <a:cs typeface="Arial Bold"/>
                <a:sym typeface="Arial Bold"/>
              </a:rPr>
              <a:t>Offer </a:t>
            </a:r>
            <a:r>
              <a:rPr lang="en-US" b="true" sz="2100">
                <a:solidFill>
                  <a:srgbClr val="000000"/>
                </a:solidFill>
                <a:latin typeface="Arial Bold"/>
                <a:ea typeface="Arial Bold"/>
                <a:cs typeface="Arial Bold"/>
                <a:sym typeface="Arial Bold"/>
              </a:rPr>
              <a:t>Consistency Analysis -</a:t>
            </a:r>
            <a:r>
              <a:rPr lang="en-US" sz="2100">
                <a:solidFill>
                  <a:srgbClr val="000000"/>
                </a:solidFill>
                <a:latin typeface="Arial"/>
                <a:ea typeface="Arial"/>
                <a:cs typeface="Arial"/>
                <a:sym typeface="Arial"/>
              </a:rPr>
              <a:t> The system compares information across the offer letter, recruiter details, company website, email domain, job description, salary, location, and contact information. Any conflicting or inconsistent information is highlighted as a potential warning sign.</a:t>
            </a:r>
          </a:p>
          <a:p>
            <a:pPr algn="l" marL="453390" indent="-226695" lvl="1">
              <a:lnSpc>
                <a:spcPts val="2520"/>
              </a:lnSpc>
              <a:buAutoNum type="arabicPeriod" startAt="1"/>
            </a:pPr>
            <a:r>
              <a:rPr lang="en-US" b="true" sz="2100">
                <a:solidFill>
                  <a:srgbClr val="000000"/>
                </a:solidFill>
                <a:latin typeface="Arial Bold"/>
                <a:ea typeface="Arial Bold"/>
                <a:cs typeface="Arial Bold"/>
                <a:sym typeface="Arial Bold"/>
              </a:rPr>
              <a:t>Explainable Risk Assessment -</a:t>
            </a:r>
            <a:r>
              <a:rPr lang="en-US" sz="2100">
                <a:solidFill>
                  <a:srgbClr val="000000"/>
                </a:solidFill>
                <a:latin typeface="Arial"/>
                <a:ea typeface="Arial"/>
                <a:cs typeface="Arial"/>
                <a:sym typeface="Arial"/>
              </a:rPr>
              <a:t> A dedicated AI agent combines the verification findings and generates an explainable risk score from 0–100. Instead of simply saying “scam” or “genuine,” the system shows the specific indicators that contributed to the risk level.</a:t>
            </a:r>
          </a:p>
          <a:p>
            <a:pPr algn="l" marL="453390" indent="-226695" lvl="1">
              <a:lnSpc>
                <a:spcPts val="2520"/>
              </a:lnSpc>
              <a:buAutoNum type="arabicPeriod" startAt="1"/>
            </a:pPr>
            <a:r>
              <a:rPr lang="en-US" b="true" sz="2100">
                <a:solidFill>
                  <a:srgbClr val="000000"/>
                </a:solidFill>
                <a:latin typeface="Arial Bold"/>
                <a:ea typeface="Arial Bold"/>
                <a:cs typeface="Arial Bold"/>
                <a:sym typeface="Arial Bold"/>
              </a:rPr>
              <a:t>Verific</a:t>
            </a:r>
            <a:r>
              <a:rPr lang="en-US" b="true" sz="2100">
                <a:solidFill>
                  <a:srgbClr val="000000"/>
                </a:solidFill>
                <a:latin typeface="Arial Bold"/>
                <a:ea typeface="Arial Bold"/>
                <a:cs typeface="Arial Bold"/>
                <a:sym typeface="Arial Bold"/>
              </a:rPr>
              <a:t>ation Recommendations -</a:t>
            </a:r>
            <a:r>
              <a:rPr lang="en-US" sz="2100">
                <a:solidFill>
                  <a:srgbClr val="000000"/>
                </a:solidFill>
                <a:latin typeface="Arial"/>
                <a:ea typeface="Arial"/>
                <a:cs typeface="Arial"/>
                <a:sym typeface="Arial"/>
              </a:rPr>
              <a:t> Based on the detected risks, the system provides practical next steps, such as verifying the recruiter through official company channels, checking the company domain, avoiding upfront payments, and independently confirming the opportunity.</a:t>
            </a:r>
          </a:p>
          <a:p>
            <a:pPr algn="l" marL="453390" indent="-226695" lvl="1">
              <a:lnSpc>
                <a:spcPts val="2520"/>
              </a:lnSpc>
              <a:buAutoNum type="arabicPeriod" startAt="1"/>
            </a:pPr>
            <a:r>
              <a:rPr lang="en-US" b="true" sz="2100">
                <a:solidFill>
                  <a:srgbClr val="000000"/>
                </a:solidFill>
                <a:latin typeface="Arial Bold"/>
                <a:ea typeface="Arial Bold"/>
                <a:cs typeface="Arial Bold"/>
                <a:sym typeface="Arial Bold"/>
              </a:rPr>
              <a:t>Verification Trail &amp; Report Generation -</a:t>
            </a:r>
            <a:r>
              <a:rPr lang="en-US" sz="2100">
                <a:solidFill>
                  <a:srgbClr val="000000"/>
                </a:solidFill>
                <a:latin typeface="Arial"/>
                <a:ea typeface="Arial"/>
                <a:cs typeface="Arial"/>
                <a:sym typeface="Arial"/>
              </a:rPr>
              <a:t>The system maintains a step-by-step verification trail showing how the offer was analyzed—from information extraction to company verification, indicator detection, consistency checking, and final risk assessment. A summarized verification report can also be generated.</a:t>
            </a:r>
          </a:p>
          <a:p>
            <a:pPr algn="l" marL="453390" indent="-226695" lvl="1">
              <a:lnSpc>
                <a:spcPts val="2520"/>
              </a:lnSpc>
              <a:buAutoNum type="arabicPeriod" startAt="1"/>
            </a:pPr>
            <a:r>
              <a:rPr lang="en-US" b="true" sz="2100">
                <a:solidFill>
                  <a:srgbClr val="000000"/>
                </a:solidFill>
                <a:latin typeface="Arial Bold"/>
                <a:ea typeface="Arial Bold"/>
                <a:cs typeface="Arial Bold"/>
                <a:sym typeface="Arial Bold"/>
              </a:rPr>
              <a:t>Dashboard &amp; History - </a:t>
            </a:r>
            <a:r>
              <a:rPr lang="en-US" sz="2100">
                <a:solidFill>
                  <a:srgbClr val="000000"/>
                </a:solidFill>
                <a:latin typeface="Arial"/>
                <a:ea typeface="Arial"/>
                <a:cs typeface="Arial"/>
                <a:sym typeface="Arial"/>
              </a:rPr>
              <a:t>Users can view previous offer checks through a dashboard containing risk categories, detected warning signs, verification history, and summarized statistics, helping them compare and review multiple opportunities.</a:t>
            </a:r>
          </a:p>
          <a:p>
            <a:pPr algn="l">
              <a:lnSpc>
                <a:spcPts val="2520"/>
              </a:lnSpc>
            </a:pPr>
          </a:p>
          <a:p>
            <a:pPr algn="l">
              <a:lnSpc>
                <a:spcPts val="2520"/>
              </a:lnSpc>
            </a:pPr>
          </a:p>
          <a:p>
            <a:pPr algn="l">
              <a:lnSpc>
                <a:spcPts val="2520"/>
              </a:lnSpc>
            </a:pPr>
          </a:p>
          <a:p>
            <a:pPr algn="l">
              <a:lnSpc>
                <a:spcPts val="2520"/>
              </a:lnSpc>
            </a:pPr>
          </a:p>
          <a:p>
            <a:pPr algn="l">
              <a:lnSpc>
                <a:spcPts val="2520"/>
              </a:lnSpc>
            </a:pPr>
          </a:p>
        </p:txBody>
      </p:sp>
      <p:sp>
        <p:nvSpPr>
          <p:cNvPr name="TextBox 3" id="3"/>
          <p:cNvSpPr txBox="true"/>
          <p:nvPr/>
        </p:nvSpPr>
        <p:spPr>
          <a:xfrm rot="0">
            <a:off x="1028700" y="1000125"/>
            <a:ext cx="10639044" cy="629631"/>
          </a:xfrm>
          <a:prstGeom prst="rect">
            <a:avLst/>
          </a:prstGeom>
        </p:spPr>
        <p:txBody>
          <a:bodyPr anchor="t" rtlCol="false" tIns="0" lIns="0" bIns="0" rIns="0">
            <a:spAutoFit/>
          </a:bodyPr>
          <a:lstStyle/>
          <a:p>
            <a:pPr algn="l">
              <a:lnSpc>
                <a:spcPts val="4320"/>
              </a:lnSpc>
            </a:pPr>
            <a:r>
              <a:rPr lang="en-US" sz="3600" b="true">
                <a:solidFill>
                  <a:srgbClr val="000000"/>
                </a:solidFill>
                <a:latin typeface="Arial Bold"/>
                <a:ea typeface="Arial Bold"/>
                <a:cs typeface="Arial Bold"/>
                <a:sym typeface="Arial Bold"/>
              </a:rPr>
              <a:t>Proposed Solution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079114" y="1712340"/>
            <a:ext cx="10754789" cy="6862320"/>
          </a:xfrm>
          <a:custGeom>
            <a:avLst/>
            <a:gdLst/>
            <a:ahLst/>
            <a:cxnLst/>
            <a:rect r="r" b="b" t="t" l="l"/>
            <a:pathLst>
              <a:path h="6862320" w="10754789">
                <a:moveTo>
                  <a:pt x="0" y="0"/>
                </a:moveTo>
                <a:lnTo>
                  <a:pt x="10754789" y="0"/>
                </a:lnTo>
                <a:lnTo>
                  <a:pt x="10754789" y="6862320"/>
                </a:lnTo>
                <a:lnTo>
                  <a:pt x="0" y="6862320"/>
                </a:lnTo>
                <a:lnTo>
                  <a:pt x="0" y="0"/>
                </a:lnTo>
                <a:close/>
              </a:path>
            </a:pathLst>
          </a:custGeom>
          <a:blipFill>
            <a:blip r:embed="rId3"/>
            <a:stretch>
              <a:fillRect l="-1497" t="0" r="-2246" b="0"/>
            </a:stretch>
          </a:blipFill>
        </p:spPr>
      </p:sp>
      <p:sp>
        <p:nvSpPr>
          <p:cNvPr name="TextBox 3" id="3"/>
          <p:cNvSpPr txBox="true"/>
          <p:nvPr/>
        </p:nvSpPr>
        <p:spPr>
          <a:xfrm rot="0">
            <a:off x="1028700" y="1837182"/>
            <a:ext cx="5722271" cy="9239250"/>
          </a:xfrm>
          <a:prstGeom prst="rect">
            <a:avLst/>
          </a:prstGeom>
        </p:spPr>
        <p:txBody>
          <a:bodyPr anchor="t" rtlCol="false" tIns="0" lIns="0" bIns="0" rIns="0">
            <a:spAutoFit/>
          </a:bodyPr>
          <a:lstStyle/>
          <a:p>
            <a:pPr algn="l" marL="506727" indent="-253363" lvl="1">
              <a:lnSpc>
                <a:spcPts val="3359"/>
              </a:lnSpc>
              <a:buFont typeface="Arial"/>
              <a:buChar char="•"/>
            </a:pPr>
            <a:r>
              <a:rPr lang="en-US" b="true" sz="2799">
                <a:solidFill>
                  <a:srgbClr val="000000"/>
                </a:solidFill>
                <a:latin typeface="Arial Bold"/>
                <a:ea typeface="Arial Bold"/>
                <a:cs typeface="Arial Bold"/>
                <a:sym typeface="Arial Bold"/>
              </a:rPr>
              <a:t>IBM Bob platform </a:t>
            </a:r>
            <a:r>
              <a:rPr lang="en-US" sz="2799">
                <a:solidFill>
                  <a:srgbClr val="000000"/>
                </a:solidFill>
                <a:latin typeface="Arial"/>
                <a:ea typeface="Arial"/>
                <a:cs typeface="Arial"/>
                <a:sym typeface="Arial"/>
              </a:rPr>
              <a:t>-For designing and orchestrating multi-agent workflows visually</a:t>
            </a:r>
          </a:p>
          <a:p>
            <a:pPr algn="l" marL="506727" indent="-253363" lvl="1">
              <a:lnSpc>
                <a:spcPts val="3359"/>
              </a:lnSpc>
            </a:pPr>
          </a:p>
          <a:p>
            <a:pPr algn="l" marL="506727" indent="-253363" lvl="1">
              <a:lnSpc>
                <a:spcPts val="3359"/>
              </a:lnSpc>
            </a:pPr>
          </a:p>
          <a:p>
            <a:pPr algn="l" marL="506727" indent="-253363" lvl="1">
              <a:lnSpc>
                <a:spcPts val="3359"/>
              </a:lnSpc>
              <a:buFont typeface="Arial"/>
              <a:buChar char="•"/>
            </a:pPr>
            <a:r>
              <a:rPr lang="en-US" b="true" sz="2799">
                <a:solidFill>
                  <a:srgbClr val="000000"/>
                </a:solidFill>
                <a:latin typeface="Arial Bold"/>
                <a:ea typeface="Arial Bold"/>
                <a:cs typeface="Arial Bold"/>
                <a:sym typeface="Arial Bold"/>
              </a:rPr>
              <a:t>IBM Grainte model </a:t>
            </a:r>
            <a:r>
              <a:rPr lang="en-US" sz="2799">
                <a:solidFill>
                  <a:srgbClr val="000000"/>
                </a:solidFill>
                <a:latin typeface="Arial"/>
                <a:ea typeface="Arial"/>
                <a:cs typeface="Arial"/>
                <a:sym typeface="Arial"/>
              </a:rPr>
              <a:t>-  for eg – ibm-granite-3-2-8b – For natural language understanding, reasoning, and personalization</a:t>
            </a:r>
          </a:p>
          <a:p>
            <a:pPr algn="l">
              <a:lnSpc>
                <a:spcPts val="3359"/>
              </a:lnSpc>
            </a:pPr>
          </a:p>
          <a:p>
            <a:pPr algn="l" marL="506727" indent="-253363" lvl="1">
              <a:lnSpc>
                <a:spcPts val="3359"/>
              </a:lnSpc>
            </a:pPr>
          </a:p>
          <a:p>
            <a:pPr algn="l" marL="506727" indent="-253363" lvl="1">
              <a:lnSpc>
                <a:spcPts val="3359"/>
              </a:lnSpc>
              <a:buFont typeface="Arial"/>
              <a:buChar char="•"/>
            </a:pPr>
            <a:r>
              <a:rPr lang="en-US" b="true" sz="2799">
                <a:solidFill>
                  <a:srgbClr val="000000"/>
                </a:solidFill>
                <a:latin typeface="Arial Bold"/>
                <a:ea typeface="Arial Bold"/>
                <a:cs typeface="Arial Bold"/>
                <a:sym typeface="Arial Bold"/>
              </a:rPr>
              <a:t>RAG– </a:t>
            </a:r>
            <a:r>
              <a:rPr lang="en-US" sz="2799">
                <a:solidFill>
                  <a:srgbClr val="000000"/>
                </a:solidFill>
                <a:latin typeface="Arial"/>
                <a:ea typeface="Arial"/>
                <a:cs typeface="Arial"/>
                <a:sym typeface="Arial"/>
              </a:rPr>
              <a:t>RAG to </a:t>
            </a:r>
            <a:r>
              <a:rPr lang="en-US" b="true" sz="2799">
                <a:solidFill>
                  <a:srgbClr val="000000"/>
                </a:solidFill>
                <a:latin typeface="Arial Bold"/>
                <a:ea typeface="Arial Bold"/>
                <a:cs typeface="Arial Bold"/>
                <a:sym typeface="Arial Bold"/>
              </a:rPr>
              <a:t>fetch real data first, then generate intelligent answers</a:t>
            </a:r>
            <a:r>
              <a:rPr lang="en-US" sz="2799">
                <a:solidFill>
                  <a:srgbClr val="000000"/>
                </a:solidFill>
                <a:latin typeface="Arial"/>
                <a:ea typeface="Arial"/>
                <a:cs typeface="Arial"/>
                <a:sym typeface="Arial"/>
              </a:rPr>
              <a:t>, making the Nutrition Agent more trustworthy and effective.</a:t>
            </a:r>
          </a:p>
          <a:p>
            <a:pPr algn="l" marL="506727" indent="-253363" lvl="1">
              <a:lnSpc>
                <a:spcPts val="3359"/>
              </a:lnSpc>
            </a:pPr>
          </a:p>
          <a:p>
            <a:pPr algn="l">
              <a:lnSpc>
                <a:spcPts val="3359"/>
              </a:lnSpc>
            </a:pPr>
          </a:p>
          <a:p>
            <a:pPr algn="l" marL="506727" indent="-253363" lvl="1">
              <a:lnSpc>
                <a:spcPts val="3359"/>
              </a:lnSpc>
            </a:pPr>
          </a:p>
          <a:p>
            <a:pPr algn="l" marL="506727" indent="-253363" lvl="1">
              <a:lnSpc>
                <a:spcPts val="3359"/>
              </a:lnSpc>
            </a:pPr>
          </a:p>
          <a:p>
            <a:pPr algn="l" marL="506727" indent="-253363" lvl="1">
              <a:lnSpc>
                <a:spcPts val="3359"/>
              </a:lnSpc>
            </a:pPr>
          </a:p>
          <a:p>
            <a:pPr algn="l" marL="506727" indent="-253363" lvl="1">
              <a:lnSpc>
                <a:spcPts val="3359"/>
              </a:lnSpc>
            </a:pPr>
          </a:p>
        </p:txBody>
      </p:sp>
      <p:sp>
        <p:nvSpPr>
          <p:cNvPr name="TextBox 4" id="4"/>
          <p:cNvSpPr txBox="true"/>
          <p:nvPr/>
        </p:nvSpPr>
        <p:spPr>
          <a:xfrm rot="0">
            <a:off x="1257300" y="744093"/>
            <a:ext cx="10501884" cy="629631"/>
          </a:xfrm>
          <a:prstGeom prst="rect">
            <a:avLst/>
          </a:prstGeom>
        </p:spPr>
        <p:txBody>
          <a:bodyPr anchor="t" rtlCol="false" tIns="0" lIns="0" bIns="0" rIns="0">
            <a:spAutoFit/>
          </a:bodyPr>
          <a:lstStyle/>
          <a:p>
            <a:pPr algn="l">
              <a:lnSpc>
                <a:spcPts val="4320"/>
              </a:lnSpc>
            </a:pPr>
            <a:r>
              <a:rPr lang="en-US" sz="3600" b="true">
                <a:solidFill>
                  <a:srgbClr val="000000"/>
                </a:solidFill>
                <a:latin typeface="Arial Bold"/>
                <a:ea typeface="Arial Bold"/>
                <a:cs typeface="Arial Bold"/>
                <a:sym typeface="Arial Bold"/>
              </a:rPr>
              <a:t>Technology Used</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93731" y="663745"/>
            <a:ext cx="8863394" cy="701335"/>
          </a:xfrm>
          <a:prstGeom prst="rect">
            <a:avLst/>
          </a:prstGeom>
        </p:spPr>
        <p:txBody>
          <a:bodyPr anchor="t" rtlCol="false" tIns="0" lIns="0" bIns="0" rIns="0">
            <a:spAutoFit/>
          </a:bodyPr>
          <a:lstStyle/>
          <a:p>
            <a:pPr algn="l">
              <a:lnSpc>
                <a:spcPts val="4320"/>
              </a:lnSpc>
            </a:pPr>
            <a:r>
              <a:rPr lang="en-US" b="true" sz="3600">
                <a:solidFill>
                  <a:srgbClr val="000000"/>
                </a:solidFill>
                <a:latin typeface="Arial Bold"/>
                <a:ea typeface="Arial Bold"/>
                <a:cs typeface="Arial Bold"/>
                <a:sym typeface="Arial Bold"/>
              </a:rPr>
              <a:t>Required Files created using IBM bob -</a:t>
            </a:r>
          </a:p>
        </p:txBody>
      </p:sp>
      <p:sp>
        <p:nvSpPr>
          <p:cNvPr name="TextBox 3" id="3"/>
          <p:cNvSpPr txBox="true"/>
          <p:nvPr/>
        </p:nvSpPr>
        <p:spPr>
          <a:xfrm rot="0">
            <a:off x="593731" y="1236659"/>
            <a:ext cx="13836004" cy="10067925"/>
          </a:xfrm>
          <a:prstGeom prst="rect">
            <a:avLst/>
          </a:prstGeom>
        </p:spPr>
        <p:txBody>
          <a:bodyPr anchor="t" rtlCol="false" tIns="0" lIns="0" bIns="0" rIns="0">
            <a:spAutoFit/>
          </a:bodyPr>
          <a:lstStyle/>
          <a:p>
            <a:pPr algn="l">
              <a:lnSpc>
                <a:spcPts val="2400"/>
              </a:lnSpc>
            </a:pPr>
          </a:p>
          <a:p>
            <a:pPr algn="l">
              <a:lnSpc>
                <a:spcPts val="2400"/>
              </a:lnSpc>
            </a:pPr>
            <a:r>
              <a:rPr lang="en-US" sz="2000" b="true">
                <a:solidFill>
                  <a:srgbClr val="000000"/>
                </a:solidFill>
                <a:latin typeface="Arial Bold"/>
                <a:ea typeface="Arial Bold"/>
                <a:cs typeface="Arial Bold"/>
                <a:sym typeface="Arial Bold"/>
              </a:rPr>
              <a:t>Frontend</a:t>
            </a:r>
          </a:p>
          <a:p>
            <a:pPr algn="l" marL="361950" indent="-180975" lvl="1">
              <a:lnSpc>
                <a:spcPts val="2400"/>
              </a:lnSpc>
              <a:buAutoNum type="arabicPeriod" startAt="1"/>
            </a:pPr>
            <a:r>
              <a:rPr lang="en-US" sz="2000">
                <a:solidFill>
                  <a:srgbClr val="000000"/>
                </a:solidFill>
                <a:latin typeface="Arial"/>
                <a:ea typeface="Arial"/>
                <a:cs typeface="Arial"/>
                <a:sym typeface="Arial"/>
              </a:rPr>
              <a:t>index.html</a:t>
            </a:r>
          </a:p>
          <a:p>
            <a:pPr algn="l" marL="361950" indent="-180975" lvl="1">
              <a:lnSpc>
                <a:spcPts val="2400"/>
              </a:lnSpc>
              <a:buAutoNum type="arabicPeriod" startAt="1"/>
            </a:pPr>
            <a:r>
              <a:rPr lang="en-US" sz="2000">
                <a:solidFill>
                  <a:srgbClr val="000000"/>
                </a:solidFill>
                <a:latin typeface="Arial"/>
                <a:ea typeface="Arial"/>
                <a:cs typeface="Arial"/>
                <a:sym typeface="Arial"/>
              </a:rPr>
              <a:t>verify.html</a:t>
            </a:r>
          </a:p>
          <a:p>
            <a:pPr algn="l" marL="361950" indent="-180975" lvl="1">
              <a:lnSpc>
                <a:spcPts val="2400"/>
              </a:lnSpc>
              <a:buAutoNum type="arabicPeriod" startAt="1"/>
            </a:pPr>
            <a:r>
              <a:rPr lang="en-US" sz="2000">
                <a:solidFill>
                  <a:srgbClr val="000000"/>
                </a:solidFill>
                <a:latin typeface="Arial"/>
                <a:ea typeface="Arial"/>
                <a:cs typeface="Arial"/>
                <a:sym typeface="Arial"/>
              </a:rPr>
              <a:t>dashboard.html</a:t>
            </a:r>
          </a:p>
          <a:p>
            <a:pPr algn="l" marL="361950" indent="-180975" lvl="1">
              <a:lnSpc>
                <a:spcPts val="2400"/>
              </a:lnSpc>
              <a:buAutoNum type="arabicPeriod" startAt="1"/>
            </a:pPr>
            <a:r>
              <a:rPr lang="en-US" sz="2000">
                <a:solidFill>
                  <a:srgbClr val="000000"/>
                </a:solidFill>
                <a:latin typeface="Arial"/>
                <a:ea typeface="Arial"/>
                <a:cs typeface="Arial"/>
                <a:sym typeface="Arial"/>
              </a:rPr>
              <a:t>re</a:t>
            </a:r>
            <a:r>
              <a:rPr lang="en-US" sz="2000">
                <a:solidFill>
                  <a:srgbClr val="000000"/>
                </a:solidFill>
                <a:latin typeface="Arial"/>
                <a:ea typeface="Arial"/>
                <a:cs typeface="Arial"/>
                <a:sym typeface="Arial"/>
              </a:rPr>
              <a:t>port.html</a:t>
            </a:r>
          </a:p>
          <a:p>
            <a:pPr algn="l" marL="361950" indent="-180975" lvl="1">
              <a:lnSpc>
                <a:spcPts val="2400"/>
              </a:lnSpc>
              <a:buAutoNum type="arabicPeriod" startAt="1"/>
            </a:pPr>
            <a:r>
              <a:rPr lang="en-US" sz="2000">
                <a:solidFill>
                  <a:srgbClr val="000000"/>
                </a:solidFill>
                <a:latin typeface="Arial"/>
                <a:ea typeface="Arial"/>
                <a:cs typeface="Arial"/>
                <a:sym typeface="Arial"/>
              </a:rPr>
              <a:t>style.css</a:t>
            </a:r>
          </a:p>
          <a:p>
            <a:pPr algn="l" marL="361950" indent="-180975" lvl="1">
              <a:lnSpc>
                <a:spcPts val="2400"/>
              </a:lnSpc>
              <a:buAutoNum type="arabicPeriod" startAt="1"/>
            </a:pPr>
            <a:r>
              <a:rPr lang="en-US" sz="2000">
                <a:solidFill>
                  <a:srgbClr val="000000"/>
                </a:solidFill>
                <a:latin typeface="Arial"/>
                <a:ea typeface="Arial"/>
                <a:cs typeface="Arial"/>
                <a:sym typeface="Arial"/>
              </a:rPr>
              <a:t>verify.js</a:t>
            </a:r>
          </a:p>
          <a:p>
            <a:pPr algn="l">
              <a:lnSpc>
                <a:spcPts val="2400"/>
              </a:lnSpc>
            </a:pPr>
          </a:p>
          <a:p>
            <a:pPr algn="l">
              <a:lnSpc>
                <a:spcPts val="2400"/>
              </a:lnSpc>
            </a:pPr>
            <a:r>
              <a:rPr lang="en-US" sz="2000" b="true">
                <a:solidFill>
                  <a:srgbClr val="000000"/>
                </a:solidFill>
                <a:latin typeface="Arial Bold"/>
                <a:ea typeface="Arial Bold"/>
                <a:cs typeface="Arial Bold"/>
                <a:sym typeface="Arial Bold"/>
              </a:rPr>
              <a:t>Backend</a:t>
            </a:r>
          </a:p>
          <a:p>
            <a:pPr algn="l" marL="361950" indent="-180975" lvl="1">
              <a:lnSpc>
                <a:spcPts val="2400"/>
              </a:lnSpc>
              <a:buAutoNum type="arabicPeriod" startAt="1"/>
            </a:pPr>
            <a:r>
              <a:rPr lang="en-US" sz="2000">
                <a:solidFill>
                  <a:srgbClr val="000000"/>
                </a:solidFill>
                <a:latin typeface="Arial"/>
                <a:ea typeface="Arial"/>
                <a:cs typeface="Arial"/>
                <a:sym typeface="Arial"/>
              </a:rPr>
              <a:t>server.js</a:t>
            </a:r>
          </a:p>
          <a:p>
            <a:pPr algn="l" marL="361950" indent="-180975" lvl="1">
              <a:lnSpc>
                <a:spcPts val="2400"/>
              </a:lnSpc>
              <a:buAutoNum type="arabicPeriod" startAt="1"/>
            </a:pPr>
            <a:r>
              <a:rPr lang="en-US" sz="2000">
                <a:solidFill>
                  <a:srgbClr val="000000"/>
                </a:solidFill>
                <a:latin typeface="Arial"/>
                <a:ea typeface="Arial"/>
                <a:cs typeface="Arial"/>
                <a:sym typeface="Arial"/>
              </a:rPr>
              <a:t>verificationRoutes.js</a:t>
            </a:r>
          </a:p>
          <a:p>
            <a:pPr algn="l" marL="361950" indent="-180975" lvl="1">
              <a:lnSpc>
                <a:spcPts val="2400"/>
              </a:lnSpc>
              <a:buAutoNum type="arabicPeriod" startAt="1"/>
            </a:pPr>
            <a:r>
              <a:rPr lang="en-US" sz="2000">
                <a:solidFill>
                  <a:srgbClr val="000000"/>
                </a:solidFill>
                <a:latin typeface="Arial"/>
                <a:ea typeface="Arial"/>
                <a:cs typeface="Arial"/>
                <a:sym typeface="Arial"/>
              </a:rPr>
              <a:t>verificationController.js</a:t>
            </a:r>
          </a:p>
          <a:p>
            <a:pPr algn="l" marL="361950" indent="-180975" lvl="1">
              <a:lnSpc>
                <a:spcPts val="2400"/>
              </a:lnSpc>
              <a:buAutoNum type="arabicPeriod" startAt="1"/>
            </a:pPr>
            <a:r>
              <a:rPr lang="en-US" sz="2000">
                <a:solidFill>
                  <a:srgbClr val="000000"/>
                </a:solidFill>
                <a:latin typeface="Arial"/>
                <a:ea typeface="Arial"/>
                <a:cs typeface="Arial"/>
                <a:sym typeface="Arial"/>
              </a:rPr>
              <a:t>agentOrchestrator.js</a:t>
            </a:r>
          </a:p>
          <a:p>
            <a:pPr algn="l">
              <a:lnSpc>
                <a:spcPts val="2400"/>
              </a:lnSpc>
            </a:pPr>
          </a:p>
          <a:p>
            <a:pPr algn="l">
              <a:lnSpc>
                <a:spcPts val="2400"/>
              </a:lnSpc>
            </a:pPr>
            <a:r>
              <a:rPr lang="en-US" sz="2000" b="true">
                <a:solidFill>
                  <a:srgbClr val="000000"/>
                </a:solidFill>
                <a:latin typeface="Arial Bold"/>
                <a:ea typeface="Arial Bold"/>
                <a:cs typeface="Arial Bold"/>
                <a:sym typeface="Arial Bold"/>
              </a:rPr>
              <a:t>Agents</a:t>
            </a:r>
          </a:p>
          <a:p>
            <a:pPr algn="l" marL="361950" indent="-180975" lvl="1">
              <a:lnSpc>
                <a:spcPts val="2400"/>
              </a:lnSpc>
              <a:buAutoNum type="arabicPeriod" startAt="1"/>
            </a:pPr>
            <a:r>
              <a:rPr lang="en-US" sz="2000">
                <a:solidFill>
                  <a:srgbClr val="000000"/>
                </a:solidFill>
                <a:latin typeface="Arial"/>
                <a:ea typeface="Arial"/>
                <a:cs typeface="Arial"/>
                <a:sym typeface="Arial"/>
              </a:rPr>
              <a:t>docum</a:t>
            </a:r>
            <a:r>
              <a:rPr lang="en-US" sz="2000">
                <a:solidFill>
                  <a:srgbClr val="000000"/>
                </a:solidFill>
                <a:latin typeface="Arial"/>
                <a:ea typeface="Arial"/>
                <a:cs typeface="Arial"/>
                <a:sym typeface="Arial"/>
              </a:rPr>
              <a:t>entAnalysisAgent.js</a:t>
            </a:r>
          </a:p>
          <a:p>
            <a:pPr algn="l" marL="361950" indent="-180975" lvl="1">
              <a:lnSpc>
                <a:spcPts val="2400"/>
              </a:lnSpc>
              <a:buAutoNum type="arabicPeriod" startAt="1"/>
            </a:pPr>
            <a:r>
              <a:rPr lang="en-US" sz="2000">
                <a:solidFill>
                  <a:srgbClr val="000000"/>
                </a:solidFill>
                <a:latin typeface="Arial"/>
                <a:ea typeface="Arial"/>
                <a:cs typeface="Arial"/>
                <a:sym typeface="Arial"/>
              </a:rPr>
              <a:t>companyVerificationAgent.js</a:t>
            </a:r>
          </a:p>
          <a:p>
            <a:pPr algn="l" marL="361950" indent="-180975" lvl="1">
              <a:lnSpc>
                <a:spcPts val="2400"/>
              </a:lnSpc>
              <a:buAutoNum type="arabicPeriod" startAt="1"/>
            </a:pPr>
            <a:r>
              <a:rPr lang="en-US" sz="2000">
                <a:solidFill>
                  <a:srgbClr val="000000"/>
                </a:solidFill>
                <a:latin typeface="Arial"/>
                <a:ea typeface="Arial"/>
                <a:cs typeface="Arial"/>
                <a:sym typeface="Arial"/>
              </a:rPr>
              <a:t>scamPatternAgent.js</a:t>
            </a:r>
          </a:p>
          <a:p>
            <a:pPr algn="l" marL="361950" indent="-180975" lvl="1">
              <a:lnSpc>
                <a:spcPts val="2400"/>
              </a:lnSpc>
              <a:buAutoNum type="arabicPeriod" startAt="1"/>
            </a:pPr>
            <a:r>
              <a:rPr lang="en-US" sz="2000">
                <a:solidFill>
                  <a:srgbClr val="000000"/>
                </a:solidFill>
                <a:latin typeface="Arial"/>
                <a:ea typeface="Arial"/>
                <a:cs typeface="Arial"/>
                <a:sym typeface="Arial"/>
              </a:rPr>
              <a:t>consistencyAgent.js</a:t>
            </a:r>
          </a:p>
          <a:p>
            <a:pPr algn="l" marL="361950" indent="-180975" lvl="1">
              <a:lnSpc>
                <a:spcPts val="2400"/>
              </a:lnSpc>
              <a:buAutoNum type="arabicPeriod" startAt="1"/>
            </a:pPr>
            <a:r>
              <a:rPr lang="en-US" sz="2000">
                <a:solidFill>
                  <a:srgbClr val="000000"/>
                </a:solidFill>
                <a:latin typeface="Arial"/>
                <a:ea typeface="Arial"/>
                <a:cs typeface="Arial"/>
                <a:sym typeface="Arial"/>
              </a:rPr>
              <a:t>riskAssessmentAgent.js</a:t>
            </a:r>
          </a:p>
          <a:p>
            <a:pPr algn="l" marL="361950" indent="-180975" lvl="1">
              <a:lnSpc>
                <a:spcPts val="2400"/>
              </a:lnSpc>
              <a:buAutoNum type="arabicPeriod" startAt="1"/>
            </a:pPr>
            <a:r>
              <a:rPr lang="en-US" sz="2000">
                <a:solidFill>
                  <a:srgbClr val="000000"/>
                </a:solidFill>
                <a:latin typeface="Arial"/>
                <a:ea typeface="Arial"/>
                <a:cs typeface="Arial"/>
                <a:sym typeface="Arial"/>
              </a:rPr>
              <a:t>recommendationAgent.js</a:t>
            </a:r>
          </a:p>
          <a:p>
            <a:pPr algn="l">
              <a:lnSpc>
                <a:spcPts val="2400"/>
              </a:lnSpc>
            </a:pPr>
          </a:p>
          <a:p>
            <a:pPr algn="l">
              <a:lnSpc>
                <a:spcPts val="2400"/>
              </a:lnSpc>
            </a:pPr>
            <a:r>
              <a:rPr lang="en-US" sz="2000" b="true">
                <a:solidFill>
                  <a:srgbClr val="000000"/>
                </a:solidFill>
                <a:latin typeface="Arial Bold"/>
                <a:ea typeface="Arial Bold"/>
                <a:cs typeface="Arial Bold"/>
                <a:sym typeface="Arial Bold"/>
              </a:rPr>
              <a:t>RAG</a:t>
            </a:r>
          </a:p>
          <a:p>
            <a:pPr algn="l" marL="431801" indent="-215900" lvl="1">
              <a:lnSpc>
                <a:spcPts val="2400"/>
              </a:lnSpc>
              <a:buAutoNum type="arabicPeriod" startAt="1"/>
            </a:pPr>
            <a:r>
              <a:rPr lang="en-US" sz="2000">
                <a:solidFill>
                  <a:srgbClr val="000000"/>
                </a:solidFill>
                <a:latin typeface="Arial"/>
                <a:ea typeface="Arial"/>
                <a:cs typeface="Arial"/>
                <a:sym typeface="Arial"/>
              </a:rPr>
              <a:t>ragService.js</a:t>
            </a:r>
          </a:p>
          <a:p>
            <a:pPr algn="l" marL="431801" indent="-215900" lvl="1">
              <a:lnSpc>
                <a:spcPts val="2400"/>
              </a:lnSpc>
              <a:buAutoNum type="arabicPeriod" startAt="1"/>
            </a:pPr>
            <a:r>
              <a:rPr lang="en-US" sz="2000">
                <a:solidFill>
                  <a:srgbClr val="000000"/>
                </a:solidFill>
                <a:latin typeface="Arial"/>
                <a:ea typeface="Arial"/>
                <a:cs typeface="Arial"/>
                <a:sym typeface="Arial"/>
              </a:rPr>
              <a:t>knowledge-base/</a:t>
            </a:r>
          </a:p>
          <a:p>
            <a:pPr algn="l" marL="431801" indent="-215900" lvl="1">
              <a:lnSpc>
                <a:spcPts val="2400"/>
              </a:lnSpc>
              <a:buAutoNum type="arabicPeriod" startAt="1"/>
            </a:pPr>
            <a:r>
              <a:rPr lang="en-US" sz="2000">
                <a:solidFill>
                  <a:srgbClr val="000000"/>
                </a:solidFill>
                <a:latin typeface="Arial"/>
                <a:ea typeface="Arial"/>
                <a:cs typeface="Arial"/>
                <a:sym typeface="Arial"/>
              </a:rPr>
              <a:t>vectorStore/</a:t>
            </a:r>
          </a:p>
          <a:p>
            <a:pPr algn="l" marL="361950" indent="-180975" lvl="1">
              <a:lnSpc>
                <a:spcPts val="2400"/>
              </a:lnSpc>
            </a:pPr>
          </a:p>
          <a:p>
            <a:pPr algn="l" marL="361950" indent="-180975" lvl="1">
              <a:lnSpc>
                <a:spcPts val="2400"/>
              </a:lnSpc>
            </a:pPr>
          </a:p>
          <a:p>
            <a:pPr algn="l" marL="361950" indent="-180975" lvl="1">
              <a:lnSpc>
                <a:spcPts val="2400"/>
              </a:lnSpc>
            </a:pPr>
          </a:p>
          <a:p>
            <a:pPr algn="l" marL="361950" indent="-180975" lvl="1">
              <a:lnSpc>
                <a:spcPts val="2400"/>
              </a:lnSpc>
            </a:pPr>
          </a:p>
          <a:p>
            <a:pPr algn="l" marL="361950" indent="-180975" lvl="1">
              <a:lnSpc>
                <a:spcPts val="2400"/>
              </a:lnSpc>
            </a:pPr>
          </a:p>
          <a:p>
            <a:pPr algn="l" marL="361950" indent="-180975" lvl="1">
              <a:lnSpc>
                <a:spcPts val="2400"/>
              </a:lnSpc>
            </a:pPr>
            <a:r>
              <a:rPr lang="en-US" sz="2000">
                <a:solidFill>
                  <a:srgbClr val="000000"/>
                </a:solidFill>
                <a:latin typeface="Arial"/>
                <a:ea typeface="Arial"/>
                <a:cs typeface="Arial"/>
                <a:sym typeface="Arial"/>
              </a:rPr>
              <a:t> </a:t>
            </a:r>
          </a:p>
        </p:txBody>
      </p:sp>
      <p:grpSp>
        <p:nvGrpSpPr>
          <p:cNvPr name="Group 4" id="4"/>
          <p:cNvGrpSpPr/>
          <p:nvPr/>
        </p:nvGrpSpPr>
        <p:grpSpPr>
          <a:xfrm rot="0">
            <a:off x="6086569" y="1942135"/>
            <a:ext cx="11802551" cy="8009389"/>
            <a:chOff x="0" y="0"/>
            <a:chExt cx="15736735" cy="10679186"/>
          </a:xfrm>
        </p:grpSpPr>
        <p:sp>
          <p:nvSpPr>
            <p:cNvPr name="Freeform 5" id="5"/>
            <p:cNvSpPr/>
            <p:nvPr/>
          </p:nvSpPr>
          <p:spPr>
            <a:xfrm flipH="false" flipV="false" rot="0">
              <a:off x="0" y="0"/>
              <a:ext cx="15736697" cy="10679224"/>
            </a:xfrm>
            <a:custGeom>
              <a:avLst/>
              <a:gdLst/>
              <a:ahLst/>
              <a:cxnLst/>
              <a:rect r="r" b="b" t="t" l="l"/>
              <a:pathLst>
                <a:path h="10679224" w="15736697">
                  <a:moveTo>
                    <a:pt x="0" y="0"/>
                  </a:moveTo>
                  <a:lnTo>
                    <a:pt x="15736697" y="0"/>
                  </a:lnTo>
                  <a:lnTo>
                    <a:pt x="15736697" y="10679224"/>
                  </a:lnTo>
                  <a:lnTo>
                    <a:pt x="0" y="10679224"/>
                  </a:lnTo>
                  <a:lnTo>
                    <a:pt x="0" y="0"/>
                  </a:lnTo>
                  <a:close/>
                </a:path>
              </a:pathLst>
            </a:custGeom>
            <a:blipFill>
              <a:blip r:embed="rId3"/>
              <a:stretch>
                <a:fillRect l="0" t="-8800" r="0" b="-8800"/>
              </a:stretch>
            </a:blipFill>
          </p:spPr>
        </p:sp>
      </p:grpSp>
      <p:grpSp>
        <p:nvGrpSpPr>
          <p:cNvPr name="Group 6" id="6"/>
          <p:cNvGrpSpPr/>
          <p:nvPr/>
        </p:nvGrpSpPr>
        <p:grpSpPr>
          <a:xfrm rot="8280239">
            <a:off x="8972475" y="1957328"/>
            <a:ext cx="1423416" cy="545592"/>
            <a:chOff x="0" y="0"/>
            <a:chExt cx="1897888" cy="727456"/>
          </a:xfrm>
        </p:grpSpPr>
        <p:sp>
          <p:nvSpPr>
            <p:cNvPr name="Freeform 7" id="7"/>
            <p:cNvSpPr/>
            <p:nvPr/>
          </p:nvSpPr>
          <p:spPr>
            <a:xfrm flipH="false" flipV="false" rot="0">
              <a:off x="0" y="0"/>
              <a:ext cx="1897888" cy="727456"/>
            </a:xfrm>
            <a:custGeom>
              <a:avLst/>
              <a:gdLst/>
              <a:ahLst/>
              <a:cxnLst/>
              <a:rect r="r" b="b" t="t" l="l"/>
              <a:pathLst>
                <a:path h="727456" w="1897888">
                  <a:moveTo>
                    <a:pt x="0" y="181864"/>
                  </a:moveTo>
                  <a:lnTo>
                    <a:pt x="1534160" y="181864"/>
                  </a:lnTo>
                  <a:lnTo>
                    <a:pt x="1534160" y="0"/>
                  </a:lnTo>
                  <a:lnTo>
                    <a:pt x="1897888" y="363728"/>
                  </a:lnTo>
                  <a:lnTo>
                    <a:pt x="1534160" y="727456"/>
                  </a:lnTo>
                  <a:lnTo>
                    <a:pt x="1534160" y="545592"/>
                  </a:lnTo>
                  <a:lnTo>
                    <a:pt x="0" y="545592"/>
                  </a:lnTo>
                  <a:close/>
                </a:path>
              </a:pathLst>
            </a:custGeom>
            <a:solidFill>
              <a:srgbClr val="4472C4"/>
            </a:solidFill>
            <a:ln w="38100" cap="sq">
              <a:solidFill>
                <a:srgbClr val="172C51"/>
              </a:solidFill>
              <a:prstDash val="solid"/>
              <a:miter/>
            </a:ln>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230693" y="1157621"/>
            <a:ext cx="13826614" cy="8882491"/>
            <a:chOff x="0" y="0"/>
            <a:chExt cx="18435485" cy="11843322"/>
          </a:xfrm>
        </p:grpSpPr>
        <p:sp>
          <p:nvSpPr>
            <p:cNvPr name="Freeform 3" id="3"/>
            <p:cNvSpPr/>
            <p:nvPr/>
          </p:nvSpPr>
          <p:spPr>
            <a:xfrm flipH="false" flipV="false" rot="0">
              <a:off x="0" y="0"/>
              <a:ext cx="18435447" cy="11843334"/>
            </a:xfrm>
            <a:custGeom>
              <a:avLst/>
              <a:gdLst/>
              <a:ahLst/>
              <a:cxnLst/>
              <a:rect r="r" b="b" t="t" l="l"/>
              <a:pathLst>
                <a:path h="11843334" w="18435447">
                  <a:moveTo>
                    <a:pt x="0" y="0"/>
                  </a:moveTo>
                  <a:lnTo>
                    <a:pt x="18435447" y="0"/>
                  </a:lnTo>
                  <a:lnTo>
                    <a:pt x="18435447" y="11843334"/>
                  </a:lnTo>
                  <a:lnTo>
                    <a:pt x="0" y="11843334"/>
                  </a:lnTo>
                  <a:lnTo>
                    <a:pt x="0" y="0"/>
                  </a:lnTo>
                  <a:close/>
                </a:path>
              </a:pathLst>
            </a:custGeom>
            <a:blipFill>
              <a:blip r:embed="rId3"/>
              <a:stretch>
                <a:fillRect l="0" t="-12639" r="0" b="-12639"/>
              </a:stretch>
            </a:blipFill>
          </p:spPr>
        </p:sp>
      </p:grpSp>
      <p:sp>
        <p:nvSpPr>
          <p:cNvPr name="TextBox 4" id="4"/>
          <p:cNvSpPr txBox="true"/>
          <p:nvPr/>
        </p:nvSpPr>
        <p:spPr>
          <a:xfrm rot="0">
            <a:off x="806386" y="456286"/>
            <a:ext cx="8863394" cy="701335"/>
          </a:xfrm>
          <a:prstGeom prst="rect">
            <a:avLst/>
          </a:prstGeom>
        </p:spPr>
        <p:txBody>
          <a:bodyPr anchor="t" rtlCol="false" tIns="0" lIns="0" bIns="0" rIns="0">
            <a:spAutoFit/>
          </a:bodyPr>
          <a:lstStyle/>
          <a:p>
            <a:pPr algn="l">
              <a:lnSpc>
                <a:spcPts val="4320"/>
              </a:lnSpc>
            </a:pPr>
            <a:r>
              <a:rPr lang="en-US" b="true" sz="3600">
                <a:solidFill>
                  <a:srgbClr val="051D3A"/>
                </a:solidFill>
                <a:latin typeface="Times New Roman Bold"/>
                <a:ea typeface="Times New Roman Bold"/>
                <a:cs typeface="Times New Roman Bold"/>
                <a:sym typeface="Times New Roman Bold"/>
              </a:rPr>
              <a:t> IBM Bob Screenshots: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84955" y="203453"/>
            <a:ext cx="16718090" cy="9880093"/>
            <a:chOff x="0" y="0"/>
            <a:chExt cx="22290786" cy="13173457"/>
          </a:xfrm>
        </p:grpSpPr>
        <p:sp>
          <p:nvSpPr>
            <p:cNvPr name="Freeform 3" id="3"/>
            <p:cNvSpPr/>
            <p:nvPr/>
          </p:nvSpPr>
          <p:spPr>
            <a:xfrm flipH="false" flipV="false" rot="0">
              <a:off x="0" y="0"/>
              <a:ext cx="22290787" cy="13173428"/>
            </a:xfrm>
            <a:custGeom>
              <a:avLst/>
              <a:gdLst/>
              <a:ahLst/>
              <a:cxnLst/>
              <a:rect r="r" b="b" t="t" l="l"/>
              <a:pathLst>
                <a:path h="13173428" w="22290787">
                  <a:moveTo>
                    <a:pt x="0" y="0"/>
                  </a:moveTo>
                  <a:lnTo>
                    <a:pt x="22290787" y="0"/>
                  </a:lnTo>
                  <a:lnTo>
                    <a:pt x="22290787" y="13173428"/>
                  </a:lnTo>
                  <a:lnTo>
                    <a:pt x="0" y="13173428"/>
                  </a:lnTo>
                  <a:lnTo>
                    <a:pt x="0" y="0"/>
                  </a:lnTo>
                  <a:close/>
                </a:path>
              </a:pathLst>
            </a:custGeom>
            <a:blipFill>
              <a:blip r:embed="rId2"/>
              <a:stretch>
                <a:fillRect l="0" t="-16923" r="0" b="-16923"/>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557979" y="1751238"/>
            <a:ext cx="4523013" cy="6784524"/>
            <a:chOff x="0" y="0"/>
            <a:chExt cx="6030684" cy="9046032"/>
          </a:xfrm>
        </p:grpSpPr>
        <p:sp>
          <p:nvSpPr>
            <p:cNvPr name="Freeform 3" id="3"/>
            <p:cNvSpPr/>
            <p:nvPr/>
          </p:nvSpPr>
          <p:spPr>
            <a:xfrm flipH="false" flipV="false" rot="0">
              <a:off x="0" y="0"/>
              <a:ext cx="6030722" cy="9046083"/>
            </a:xfrm>
            <a:custGeom>
              <a:avLst/>
              <a:gdLst/>
              <a:ahLst/>
              <a:cxnLst/>
              <a:rect r="r" b="b" t="t" l="l"/>
              <a:pathLst>
                <a:path h="9046083" w="6030722">
                  <a:moveTo>
                    <a:pt x="0" y="0"/>
                  </a:moveTo>
                  <a:lnTo>
                    <a:pt x="6030722" y="0"/>
                  </a:lnTo>
                  <a:lnTo>
                    <a:pt x="6030722" y="9046083"/>
                  </a:lnTo>
                  <a:lnTo>
                    <a:pt x="0" y="9046083"/>
                  </a:lnTo>
                  <a:lnTo>
                    <a:pt x="0" y="0"/>
                  </a:lnTo>
                  <a:close/>
                </a:path>
              </a:pathLst>
            </a:custGeom>
            <a:blipFill>
              <a:blip r:embed="rId3"/>
              <a:stretch>
                <a:fillRect l="0" t="0" r="0" b="0"/>
              </a:stretch>
            </a:blipFill>
          </p:spPr>
        </p:sp>
      </p:grpSp>
      <p:sp>
        <p:nvSpPr>
          <p:cNvPr name="TextBox 4" id="4"/>
          <p:cNvSpPr txBox="true"/>
          <p:nvPr/>
        </p:nvSpPr>
        <p:spPr>
          <a:xfrm rot="0">
            <a:off x="804672" y="451866"/>
            <a:ext cx="9753362" cy="742950"/>
          </a:xfrm>
          <a:prstGeom prst="rect">
            <a:avLst/>
          </a:prstGeom>
        </p:spPr>
        <p:txBody>
          <a:bodyPr anchor="t" rtlCol="false" tIns="0" lIns="0" bIns="0" rIns="0">
            <a:spAutoFit/>
          </a:bodyPr>
          <a:lstStyle/>
          <a:p>
            <a:pPr algn="l">
              <a:lnSpc>
                <a:spcPts val="5759"/>
              </a:lnSpc>
            </a:pPr>
            <a:r>
              <a:rPr lang="en-US" sz="4800" b="true">
                <a:solidFill>
                  <a:srgbClr val="000000"/>
                </a:solidFill>
                <a:latin typeface="Arial Bold"/>
                <a:ea typeface="Arial Bold"/>
                <a:cs typeface="Arial Bold"/>
                <a:sym typeface="Arial Bold"/>
              </a:rPr>
              <a:t>Role of Agentic AI in the solution </a:t>
            </a:r>
          </a:p>
        </p:txBody>
      </p:sp>
      <p:sp>
        <p:nvSpPr>
          <p:cNvPr name="TextBox 5" id="5"/>
          <p:cNvSpPr txBox="true"/>
          <p:nvPr/>
        </p:nvSpPr>
        <p:spPr>
          <a:xfrm rot="0">
            <a:off x="1024128" y="1787433"/>
            <a:ext cx="10927080" cy="6410325"/>
          </a:xfrm>
          <a:prstGeom prst="rect">
            <a:avLst/>
          </a:prstGeom>
        </p:spPr>
        <p:txBody>
          <a:bodyPr anchor="t" rtlCol="false" tIns="0" lIns="0" bIns="0" rIns="0">
            <a:spAutoFit/>
          </a:bodyPr>
          <a:lstStyle/>
          <a:p>
            <a:pPr algn="l">
              <a:lnSpc>
                <a:spcPts val="2400"/>
              </a:lnSpc>
            </a:pPr>
            <a:r>
              <a:rPr lang="en-US" sz="2000" b="true">
                <a:solidFill>
                  <a:srgbClr val="000000"/>
                </a:solidFill>
                <a:latin typeface="Arial Bold"/>
                <a:ea typeface="Arial Bold"/>
                <a:cs typeface="Arial Bold"/>
                <a:sym typeface="Arial Bold"/>
              </a:rPr>
              <a:t>Role of Agentic AI in AI Job &amp; Internship Scam and Offer Verification Agent</a:t>
            </a:r>
          </a:p>
          <a:p>
            <a:pPr algn="l" marL="431801" indent="-215900" lvl="1">
              <a:lnSpc>
                <a:spcPts val="2400"/>
              </a:lnSpc>
              <a:buFont typeface="Arial"/>
              <a:buChar char="•"/>
            </a:pPr>
            <a:r>
              <a:rPr lang="en-US" sz="2000">
                <a:solidFill>
                  <a:srgbClr val="000000"/>
                </a:solidFill>
                <a:latin typeface="Arial"/>
                <a:ea typeface="Arial"/>
                <a:cs typeface="Arial"/>
                <a:sym typeface="Arial"/>
              </a:rPr>
              <a:t>Agentic AI coordinates multiple specialized agents, allowing OfferShield AI to analyze a job or internship offer through different verification stages rather than relying on a single AI response.</a:t>
            </a:r>
          </a:p>
          <a:p>
            <a:pPr algn="l" marL="431801" indent="-215900" lvl="1">
              <a:lnSpc>
                <a:spcPts val="2400"/>
              </a:lnSpc>
              <a:buFont typeface="Arial"/>
              <a:buChar char="•"/>
            </a:pPr>
            <a:r>
              <a:rPr lang="en-US" sz="2000">
                <a:solidFill>
                  <a:srgbClr val="000000"/>
                </a:solidFill>
                <a:latin typeface="Arial"/>
                <a:ea typeface="Arial"/>
                <a:cs typeface="Arial"/>
                <a:sym typeface="Arial"/>
              </a:rPr>
              <a:t>The </a:t>
            </a:r>
            <a:r>
              <a:rPr lang="en-US" sz="2000">
                <a:solidFill>
                  <a:srgbClr val="000000"/>
                </a:solidFill>
                <a:latin typeface="Arial"/>
                <a:ea typeface="Arial"/>
                <a:cs typeface="Arial"/>
                <a:sym typeface="Arial"/>
              </a:rPr>
              <a:t>Document Analysis Agent extracts key information such as company name, recruiter, job role, salary, location, payment requests, contact details, and links.</a:t>
            </a:r>
          </a:p>
          <a:p>
            <a:pPr algn="l" marL="431801" indent="-215900" lvl="1">
              <a:lnSpc>
                <a:spcPts val="2400"/>
              </a:lnSpc>
              <a:buFont typeface="Arial"/>
              <a:buChar char="•"/>
            </a:pPr>
            <a:r>
              <a:rPr lang="en-US" sz="2000">
                <a:solidFill>
                  <a:srgbClr val="000000"/>
                </a:solidFill>
                <a:latin typeface="Arial"/>
                <a:ea typeface="Arial"/>
                <a:cs typeface="Arial"/>
                <a:sym typeface="Arial"/>
              </a:rPr>
              <a:t>The Company &amp; Recruiter </a:t>
            </a:r>
            <a:r>
              <a:rPr lang="en-US" sz="2000">
                <a:solidFill>
                  <a:srgbClr val="000000"/>
                </a:solidFill>
                <a:latin typeface="Arial"/>
                <a:ea typeface="Arial"/>
                <a:cs typeface="Arial"/>
                <a:sym typeface="Arial"/>
              </a:rPr>
              <a:t>Verification Agent analyzes company identity, official website, email domain, recruiter details, and other available verification information.</a:t>
            </a:r>
          </a:p>
          <a:p>
            <a:pPr algn="l" marL="431801" indent="-215900" lvl="1">
              <a:lnSpc>
                <a:spcPts val="2400"/>
              </a:lnSpc>
              <a:buFont typeface="Arial"/>
              <a:buChar char="•"/>
            </a:pPr>
            <a:r>
              <a:rPr lang="en-US" sz="2000">
                <a:solidFill>
                  <a:srgbClr val="000000"/>
                </a:solidFill>
                <a:latin typeface="Arial"/>
                <a:ea typeface="Arial"/>
                <a:cs typeface="Arial"/>
                <a:sym typeface="Arial"/>
              </a:rPr>
              <a:t>The </a:t>
            </a:r>
            <a:r>
              <a:rPr lang="en-US" sz="2000">
                <a:solidFill>
                  <a:srgbClr val="000000"/>
                </a:solidFill>
                <a:latin typeface="Arial"/>
                <a:ea typeface="Arial"/>
                <a:cs typeface="Arial"/>
                <a:sym typeface="Arial"/>
              </a:rPr>
              <a:t>Scam Detection Agent identifies common warning signs such as upfront fees, unrealistic salaries, suspicious links, urgent requests, and unusual recruitment processes.</a:t>
            </a:r>
          </a:p>
          <a:p>
            <a:pPr algn="l" marL="431801" indent="-215900" lvl="1">
              <a:lnSpc>
                <a:spcPts val="2400"/>
              </a:lnSpc>
              <a:buFont typeface="Arial"/>
              <a:buChar char="•"/>
            </a:pPr>
            <a:r>
              <a:rPr lang="en-US" sz="2000">
                <a:solidFill>
                  <a:srgbClr val="000000"/>
                </a:solidFill>
                <a:latin typeface="Arial"/>
                <a:ea typeface="Arial"/>
                <a:cs typeface="Arial"/>
                <a:sym typeface="Arial"/>
              </a:rPr>
              <a:t>The </a:t>
            </a:r>
            <a:r>
              <a:rPr lang="en-US" sz="2000">
                <a:solidFill>
                  <a:srgbClr val="000000"/>
                </a:solidFill>
                <a:latin typeface="Arial"/>
                <a:ea typeface="Arial"/>
                <a:cs typeface="Arial"/>
                <a:sym typeface="Arial"/>
              </a:rPr>
              <a:t>RAG-based Agent retrieves relevant information from the trusted knowledge base, such as recruitment guidelines and known scam patterns, to provide more reliable contextual analysis.</a:t>
            </a:r>
          </a:p>
          <a:p>
            <a:pPr algn="l" marL="431801" indent="-215900" lvl="1">
              <a:lnSpc>
                <a:spcPts val="2400"/>
              </a:lnSpc>
              <a:buFont typeface="Arial"/>
              <a:buChar char="•"/>
            </a:pPr>
            <a:r>
              <a:rPr lang="en-US" sz="2000">
                <a:solidFill>
                  <a:srgbClr val="000000"/>
                </a:solidFill>
                <a:latin typeface="Arial"/>
                <a:ea typeface="Arial"/>
                <a:cs typeface="Arial"/>
                <a:sym typeface="Arial"/>
              </a:rPr>
              <a:t>The Consistency Agent compares extracted information across the offer, company, recruiter, domain, job description, and contact details to detect inconsistencies.</a:t>
            </a:r>
          </a:p>
          <a:p>
            <a:pPr algn="l" marL="431801" indent="-215900" lvl="1">
              <a:lnSpc>
                <a:spcPts val="2400"/>
              </a:lnSpc>
              <a:buFont typeface="Arial"/>
              <a:buChar char="•"/>
            </a:pPr>
            <a:r>
              <a:rPr lang="en-US" sz="2000">
                <a:solidFill>
                  <a:srgbClr val="000000"/>
                </a:solidFill>
                <a:latin typeface="Arial"/>
                <a:ea typeface="Arial"/>
                <a:cs typeface="Arial"/>
                <a:sym typeface="Arial"/>
              </a:rPr>
              <a:t>The </a:t>
            </a:r>
            <a:r>
              <a:rPr lang="en-US" sz="2000">
                <a:solidFill>
                  <a:srgbClr val="000000"/>
                </a:solidFill>
                <a:latin typeface="Arial"/>
                <a:ea typeface="Arial"/>
                <a:cs typeface="Arial"/>
                <a:sym typeface="Arial"/>
              </a:rPr>
              <a:t>Risk Assessment Agent combines the findings from different agents and generates an explainable risk score, highlighting the reasons behind the assessment.</a:t>
            </a:r>
          </a:p>
          <a:p>
            <a:pPr algn="l" marL="431801" indent="-215900" lvl="1">
              <a:lnSpc>
                <a:spcPts val="2400"/>
              </a:lnSpc>
              <a:buFont typeface="Arial"/>
              <a:buChar char="•"/>
            </a:pPr>
            <a:r>
              <a:rPr lang="en-US" sz="2000">
                <a:solidFill>
                  <a:srgbClr val="000000"/>
                </a:solidFill>
                <a:latin typeface="Arial"/>
                <a:ea typeface="Arial"/>
                <a:cs typeface="Arial"/>
                <a:sym typeface="Arial"/>
              </a:rPr>
              <a:t>Finally, the </a:t>
            </a:r>
            <a:r>
              <a:rPr lang="en-US" sz="2000">
                <a:solidFill>
                  <a:srgbClr val="000000"/>
                </a:solidFill>
                <a:latin typeface="Arial"/>
                <a:ea typeface="Arial"/>
                <a:cs typeface="Arial"/>
                <a:sym typeface="Arial"/>
              </a:rPr>
              <a:t>Recommendation Agent converts the analysis into practical safety guidance, while the Agent Orchestrator manages the complete flow from offer submission → verification → analysis → risk assessment → recommendations → final report.</a:t>
            </a:r>
          </a:p>
          <a:p>
            <a:pPr algn="l">
              <a:lnSpc>
                <a:spcPts val="2400"/>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828086" y="4830775"/>
            <a:ext cx="11202829" cy="1358617"/>
          </a:xfrm>
          <a:prstGeom prst="rect">
            <a:avLst/>
          </a:prstGeom>
        </p:spPr>
        <p:txBody>
          <a:bodyPr anchor="t" rtlCol="false" tIns="0" lIns="0" bIns="0" rIns="0">
            <a:spAutoFit/>
          </a:bodyPr>
          <a:lstStyle/>
          <a:p>
            <a:pPr algn="l">
              <a:lnSpc>
                <a:spcPts val="5399"/>
              </a:lnSpc>
            </a:pPr>
            <a:r>
              <a:rPr lang="en-US" sz="2775">
                <a:solidFill>
                  <a:srgbClr val="2B3541"/>
                </a:solidFill>
                <a:latin typeface="Times New Roman"/>
                <a:ea typeface="Times New Roman"/>
                <a:cs typeface="Times New Roman"/>
                <a:sym typeface="Times New Roman"/>
              </a:rPr>
              <a:t>·</a:t>
            </a:r>
          </a:p>
        </p:txBody>
      </p:sp>
      <p:sp>
        <p:nvSpPr>
          <p:cNvPr name="TextBox 3" id="3"/>
          <p:cNvSpPr txBox="true"/>
          <p:nvPr/>
        </p:nvSpPr>
        <p:spPr>
          <a:xfrm rot="0">
            <a:off x="1828086" y="6383645"/>
            <a:ext cx="11202829" cy="1358617"/>
          </a:xfrm>
          <a:prstGeom prst="rect">
            <a:avLst/>
          </a:prstGeom>
        </p:spPr>
        <p:txBody>
          <a:bodyPr anchor="t" rtlCol="false" tIns="0" lIns="0" bIns="0" rIns="0">
            <a:spAutoFit/>
          </a:bodyPr>
          <a:lstStyle/>
          <a:p>
            <a:pPr algn="l">
              <a:lnSpc>
                <a:spcPts val="5399"/>
              </a:lnSpc>
            </a:pPr>
            <a:r>
              <a:rPr lang="en-US" sz="2775">
                <a:solidFill>
                  <a:srgbClr val="2B3541"/>
                </a:solidFill>
                <a:latin typeface="Times New Roman"/>
                <a:ea typeface="Times New Roman"/>
                <a:cs typeface="Times New Roman"/>
                <a:sym typeface="Times New Roman"/>
              </a:rPr>
              <a:t>·</a:t>
            </a:r>
          </a:p>
        </p:txBody>
      </p:sp>
      <p:sp>
        <p:nvSpPr>
          <p:cNvPr name="TextBox 4" id="4"/>
          <p:cNvSpPr txBox="true"/>
          <p:nvPr/>
        </p:nvSpPr>
        <p:spPr>
          <a:xfrm rot="0">
            <a:off x="1828086" y="7936516"/>
            <a:ext cx="11202829" cy="784088"/>
          </a:xfrm>
          <a:prstGeom prst="rect">
            <a:avLst/>
          </a:prstGeom>
        </p:spPr>
        <p:txBody>
          <a:bodyPr anchor="t" rtlCol="false" tIns="0" lIns="0" bIns="0" rIns="0">
            <a:spAutoFit/>
          </a:bodyPr>
          <a:lstStyle/>
          <a:p>
            <a:pPr algn="l">
              <a:lnSpc>
                <a:spcPts val="5399"/>
              </a:lnSpc>
            </a:pPr>
            <a:r>
              <a:rPr lang="en-US" sz="2775">
                <a:solidFill>
                  <a:srgbClr val="2B3541"/>
                </a:solidFill>
                <a:latin typeface="Times New Roman"/>
                <a:ea typeface="Times New Roman"/>
                <a:cs typeface="Times New Roman"/>
                <a:sym typeface="Times New Roman"/>
              </a:rPr>
              <a:t>·</a:t>
            </a:r>
          </a:p>
        </p:txBody>
      </p:sp>
      <p:sp>
        <p:nvSpPr>
          <p:cNvPr name="TextBox 5" id="5"/>
          <p:cNvSpPr txBox="true"/>
          <p:nvPr/>
        </p:nvSpPr>
        <p:spPr>
          <a:xfrm rot="0">
            <a:off x="2093976" y="2824734"/>
            <a:ext cx="10068001" cy="989438"/>
          </a:xfrm>
          <a:prstGeom prst="rect">
            <a:avLst/>
          </a:prstGeom>
        </p:spPr>
        <p:txBody>
          <a:bodyPr anchor="t" rtlCol="false" tIns="0" lIns="0" bIns="0" rIns="0">
            <a:spAutoFit/>
          </a:bodyPr>
          <a:lstStyle/>
          <a:p>
            <a:pPr algn="l">
              <a:lnSpc>
                <a:spcPts val="3600"/>
              </a:lnSpc>
            </a:pPr>
            <a:r>
              <a:rPr lang="en-US" sz="3000">
                <a:solidFill>
                  <a:srgbClr val="FF0000"/>
                </a:solidFill>
                <a:latin typeface="Arial"/>
                <a:ea typeface="Arial"/>
                <a:cs typeface="Arial"/>
                <a:sym typeface="Arial"/>
              </a:rPr>
              <a:t>Please put IBM Bob output screenshots with 2-3 prompts. </a:t>
            </a:r>
          </a:p>
          <a:p>
            <a:pPr algn="l">
              <a:lnSpc>
                <a:spcPts val="3600"/>
              </a:lnSpc>
            </a:pPr>
            <a:r>
              <a:rPr lang="en-US" sz="3000">
                <a:solidFill>
                  <a:srgbClr val="FF0000"/>
                </a:solidFill>
                <a:latin typeface="Arial"/>
                <a:ea typeface="Arial"/>
                <a:cs typeface="Arial"/>
                <a:sym typeface="Arial"/>
              </a:rPr>
              <a:t>You can take 2-3 more slides for each screenshot</a:t>
            </a:r>
          </a:p>
        </p:txBody>
      </p:sp>
      <p:grpSp>
        <p:nvGrpSpPr>
          <p:cNvPr name="Group 6" id="6"/>
          <p:cNvGrpSpPr/>
          <p:nvPr/>
        </p:nvGrpSpPr>
        <p:grpSpPr>
          <a:xfrm rot="0">
            <a:off x="299606" y="1095355"/>
            <a:ext cx="17366054" cy="8162945"/>
            <a:chOff x="0" y="0"/>
            <a:chExt cx="22327743" cy="10495196"/>
          </a:xfrm>
        </p:grpSpPr>
        <p:sp>
          <p:nvSpPr>
            <p:cNvPr name="Freeform 7" id="7"/>
            <p:cNvSpPr/>
            <p:nvPr/>
          </p:nvSpPr>
          <p:spPr>
            <a:xfrm flipH="false" flipV="false" rot="0">
              <a:off x="0" y="0"/>
              <a:ext cx="22327743" cy="10495246"/>
            </a:xfrm>
            <a:custGeom>
              <a:avLst/>
              <a:gdLst/>
              <a:ahLst/>
              <a:cxnLst/>
              <a:rect r="r" b="b" t="t" l="l"/>
              <a:pathLst>
                <a:path h="10495246" w="22327743">
                  <a:moveTo>
                    <a:pt x="0" y="0"/>
                  </a:moveTo>
                  <a:lnTo>
                    <a:pt x="22327743" y="0"/>
                  </a:lnTo>
                  <a:lnTo>
                    <a:pt x="22327743" y="10495246"/>
                  </a:lnTo>
                  <a:lnTo>
                    <a:pt x="0" y="10495246"/>
                  </a:lnTo>
                  <a:lnTo>
                    <a:pt x="0" y="0"/>
                  </a:lnTo>
                  <a:close/>
                </a:path>
              </a:pathLst>
            </a:custGeom>
            <a:blipFill>
              <a:blip r:embed="rId3"/>
              <a:stretch>
                <a:fillRect l="0" t="-1699" r="0" b="-1699"/>
              </a:stretch>
            </a:blipFill>
          </p:spPr>
        </p:sp>
      </p:grpSp>
      <p:sp>
        <p:nvSpPr>
          <p:cNvPr name="TextBox 8" id="8"/>
          <p:cNvSpPr txBox="true"/>
          <p:nvPr/>
        </p:nvSpPr>
        <p:spPr>
          <a:xfrm rot="0">
            <a:off x="613715" y="-87735"/>
            <a:ext cx="9666742" cy="1313202"/>
          </a:xfrm>
          <a:prstGeom prst="rect">
            <a:avLst/>
          </a:prstGeom>
        </p:spPr>
        <p:txBody>
          <a:bodyPr anchor="t" rtlCol="false" tIns="0" lIns="0" bIns="0" rIns="0">
            <a:spAutoFit/>
          </a:bodyPr>
          <a:lstStyle/>
          <a:p>
            <a:pPr algn="l">
              <a:lnSpc>
                <a:spcPts val="6788"/>
              </a:lnSpc>
            </a:pPr>
            <a:r>
              <a:rPr lang="en-US" sz="3600" b="true">
                <a:solidFill>
                  <a:srgbClr val="000000"/>
                </a:solidFill>
                <a:latin typeface="Arial Bold"/>
                <a:ea typeface="Arial Bold"/>
                <a:cs typeface="Arial Bold"/>
                <a:sym typeface="Arial Bold"/>
              </a:rPr>
              <a:t> Project Output Screenshot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828086" y="4830775"/>
            <a:ext cx="11202829" cy="1358617"/>
          </a:xfrm>
          <a:prstGeom prst="rect">
            <a:avLst/>
          </a:prstGeom>
        </p:spPr>
        <p:txBody>
          <a:bodyPr anchor="t" rtlCol="false" tIns="0" lIns="0" bIns="0" rIns="0">
            <a:spAutoFit/>
          </a:bodyPr>
          <a:lstStyle/>
          <a:p>
            <a:pPr algn="l">
              <a:lnSpc>
                <a:spcPts val="5399"/>
              </a:lnSpc>
            </a:pPr>
            <a:r>
              <a:rPr lang="en-US" sz="2775">
                <a:solidFill>
                  <a:srgbClr val="2B3541"/>
                </a:solidFill>
                <a:latin typeface="Times New Roman"/>
                <a:ea typeface="Times New Roman"/>
                <a:cs typeface="Times New Roman"/>
                <a:sym typeface="Times New Roman"/>
              </a:rPr>
              <a:t>·</a:t>
            </a:r>
          </a:p>
        </p:txBody>
      </p:sp>
      <p:sp>
        <p:nvSpPr>
          <p:cNvPr name="TextBox 3" id="3"/>
          <p:cNvSpPr txBox="true"/>
          <p:nvPr/>
        </p:nvSpPr>
        <p:spPr>
          <a:xfrm rot="0">
            <a:off x="1828086" y="6383645"/>
            <a:ext cx="11202829" cy="1358617"/>
          </a:xfrm>
          <a:prstGeom prst="rect">
            <a:avLst/>
          </a:prstGeom>
        </p:spPr>
        <p:txBody>
          <a:bodyPr anchor="t" rtlCol="false" tIns="0" lIns="0" bIns="0" rIns="0">
            <a:spAutoFit/>
          </a:bodyPr>
          <a:lstStyle/>
          <a:p>
            <a:pPr algn="l">
              <a:lnSpc>
                <a:spcPts val="5399"/>
              </a:lnSpc>
            </a:pPr>
            <a:r>
              <a:rPr lang="en-US" sz="2775">
                <a:solidFill>
                  <a:srgbClr val="2B3541"/>
                </a:solidFill>
                <a:latin typeface="Times New Roman"/>
                <a:ea typeface="Times New Roman"/>
                <a:cs typeface="Times New Roman"/>
                <a:sym typeface="Times New Roman"/>
              </a:rPr>
              <a:t>·</a:t>
            </a:r>
          </a:p>
        </p:txBody>
      </p:sp>
      <p:sp>
        <p:nvSpPr>
          <p:cNvPr name="TextBox 4" id="4"/>
          <p:cNvSpPr txBox="true"/>
          <p:nvPr/>
        </p:nvSpPr>
        <p:spPr>
          <a:xfrm rot="0">
            <a:off x="1828086" y="7936516"/>
            <a:ext cx="11202829" cy="784088"/>
          </a:xfrm>
          <a:prstGeom prst="rect">
            <a:avLst/>
          </a:prstGeom>
        </p:spPr>
        <p:txBody>
          <a:bodyPr anchor="t" rtlCol="false" tIns="0" lIns="0" bIns="0" rIns="0">
            <a:spAutoFit/>
          </a:bodyPr>
          <a:lstStyle/>
          <a:p>
            <a:pPr algn="l">
              <a:lnSpc>
                <a:spcPts val="5399"/>
              </a:lnSpc>
            </a:pPr>
            <a:r>
              <a:rPr lang="en-US" sz="2775">
                <a:solidFill>
                  <a:srgbClr val="2B3541"/>
                </a:solidFill>
                <a:latin typeface="Times New Roman"/>
                <a:ea typeface="Times New Roman"/>
                <a:cs typeface="Times New Roman"/>
                <a:sym typeface="Times New Roman"/>
              </a:rPr>
              <a:t>·</a:t>
            </a:r>
          </a:p>
        </p:txBody>
      </p:sp>
      <p:sp>
        <p:nvSpPr>
          <p:cNvPr name="TextBox 5" id="5"/>
          <p:cNvSpPr txBox="true"/>
          <p:nvPr/>
        </p:nvSpPr>
        <p:spPr>
          <a:xfrm rot="0">
            <a:off x="2093976" y="2824734"/>
            <a:ext cx="10068001" cy="989438"/>
          </a:xfrm>
          <a:prstGeom prst="rect">
            <a:avLst/>
          </a:prstGeom>
        </p:spPr>
        <p:txBody>
          <a:bodyPr anchor="t" rtlCol="false" tIns="0" lIns="0" bIns="0" rIns="0">
            <a:spAutoFit/>
          </a:bodyPr>
          <a:lstStyle/>
          <a:p>
            <a:pPr algn="l">
              <a:lnSpc>
                <a:spcPts val="3600"/>
              </a:lnSpc>
            </a:pPr>
            <a:r>
              <a:rPr lang="en-US" sz="3000">
                <a:solidFill>
                  <a:srgbClr val="FF0000"/>
                </a:solidFill>
                <a:latin typeface="Arial"/>
                <a:ea typeface="Arial"/>
                <a:cs typeface="Arial"/>
                <a:sym typeface="Arial"/>
              </a:rPr>
              <a:t>Please put IBM Bob output screenshots with 2-3 prompts. </a:t>
            </a:r>
          </a:p>
          <a:p>
            <a:pPr algn="l">
              <a:lnSpc>
                <a:spcPts val="3600"/>
              </a:lnSpc>
            </a:pPr>
            <a:r>
              <a:rPr lang="en-US" sz="3000">
                <a:solidFill>
                  <a:srgbClr val="FF0000"/>
                </a:solidFill>
                <a:latin typeface="Arial"/>
                <a:ea typeface="Arial"/>
                <a:cs typeface="Arial"/>
                <a:sym typeface="Arial"/>
              </a:rPr>
              <a:t>You can take 2-3 more slides for each screenshot</a:t>
            </a:r>
          </a:p>
        </p:txBody>
      </p:sp>
      <p:grpSp>
        <p:nvGrpSpPr>
          <p:cNvPr name="Group 6" id="6"/>
          <p:cNvGrpSpPr/>
          <p:nvPr/>
        </p:nvGrpSpPr>
        <p:grpSpPr>
          <a:xfrm rot="0">
            <a:off x="618118" y="1451458"/>
            <a:ext cx="16641182" cy="7806842"/>
            <a:chOff x="0" y="0"/>
            <a:chExt cx="20986699" cy="9845445"/>
          </a:xfrm>
        </p:grpSpPr>
        <p:sp>
          <p:nvSpPr>
            <p:cNvPr name="Freeform 7" id="7"/>
            <p:cNvSpPr/>
            <p:nvPr/>
          </p:nvSpPr>
          <p:spPr>
            <a:xfrm flipH="false" flipV="false" rot="0">
              <a:off x="0" y="0"/>
              <a:ext cx="20986750" cy="9845446"/>
            </a:xfrm>
            <a:custGeom>
              <a:avLst/>
              <a:gdLst/>
              <a:ahLst/>
              <a:cxnLst/>
              <a:rect r="r" b="b" t="t" l="l"/>
              <a:pathLst>
                <a:path h="9845446" w="20986750">
                  <a:moveTo>
                    <a:pt x="0" y="0"/>
                  </a:moveTo>
                  <a:lnTo>
                    <a:pt x="20986750" y="0"/>
                  </a:lnTo>
                  <a:lnTo>
                    <a:pt x="20986750" y="9845446"/>
                  </a:lnTo>
                  <a:lnTo>
                    <a:pt x="0" y="9845446"/>
                  </a:lnTo>
                  <a:lnTo>
                    <a:pt x="0" y="0"/>
                  </a:lnTo>
                  <a:close/>
                </a:path>
              </a:pathLst>
            </a:custGeom>
            <a:blipFill>
              <a:blip r:embed="rId3"/>
              <a:stretch>
                <a:fillRect l="0" t="-1441" r="0" b="-1441"/>
              </a:stretch>
            </a:blipFill>
          </p:spPr>
        </p:sp>
      </p:grpSp>
      <p:sp>
        <p:nvSpPr>
          <p:cNvPr name="TextBox 8" id="8"/>
          <p:cNvSpPr txBox="true"/>
          <p:nvPr/>
        </p:nvSpPr>
        <p:spPr>
          <a:xfrm rot="0">
            <a:off x="613715" y="-87735"/>
            <a:ext cx="9666742" cy="1313202"/>
          </a:xfrm>
          <a:prstGeom prst="rect">
            <a:avLst/>
          </a:prstGeom>
        </p:spPr>
        <p:txBody>
          <a:bodyPr anchor="t" rtlCol="false" tIns="0" lIns="0" bIns="0" rIns="0">
            <a:spAutoFit/>
          </a:bodyPr>
          <a:lstStyle/>
          <a:p>
            <a:pPr algn="l">
              <a:lnSpc>
                <a:spcPts val="6788"/>
              </a:lnSpc>
            </a:pPr>
            <a:r>
              <a:rPr lang="en-US" sz="3600" b="true">
                <a:solidFill>
                  <a:srgbClr val="000000"/>
                </a:solidFill>
                <a:latin typeface="Arial Bold"/>
                <a:ea typeface="Arial Bold"/>
                <a:cs typeface="Arial Bold"/>
                <a:sym typeface="Arial Bold"/>
              </a:rPr>
              <a:t> Project Output Screenshot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13715" y="-87735"/>
            <a:ext cx="9666742" cy="1313202"/>
          </a:xfrm>
          <a:prstGeom prst="rect">
            <a:avLst/>
          </a:prstGeom>
        </p:spPr>
        <p:txBody>
          <a:bodyPr anchor="t" rtlCol="false" tIns="0" lIns="0" bIns="0" rIns="0">
            <a:spAutoFit/>
          </a:bodyPr>
          <a:lstStyle/>
          <a:p>
            <a:pPr algn="l">
              <a:lnSpc>
                <a:spcPts val="6788"/>
              </a:lnSpc>
            </a:pPr>
            <a:r>
              <a:rPr lang="en-US" sz="3600" b="true">
                <a:solidFill>
                  <a:srgbClr val="000000"/>
                </a:solidFill>
                <a:latin typeface="Arial Bold"/>
                <a:ea typeface="Arial Bold"/>
                <a:cs typeface="Arial Bold"/>
                <a:sym typeface="Arial Bold"/>
              </a:rPr>
              <a:t> Project Output Screenshot</a:t>
            </a:r>
          </a:p>
        </p:txBody>
      </p:sp>
      <p:sp>
        <p:nvSpPr>
          <p:cNvPr name="TextBox 3" id="3"/>
          <p:cNvSpPr txBox="true"/>
          <p:nvPr/>
        </p:nvSpPr>
        <p:spPr>
          <a:xfrm rot="0">
            <a:off x="1828086" y="4830775"/>
            <a:ext cx="11202829" cy="1358617"/>
          </a:xfrm>
          <a:prstGeom prst="rect">
            <a:avLst/>
          </a:prstGeom>
        </p:spPr>
        <p:txBody>
          <a:bodyPr anchor="t" rtlCol="false" tIns="0" lIns="0" bIns="0" rIns="0">
            <a:spAutoFit/>
          </a:bodyPr>
          <a:lstStyle/>
          <a:p>
            <a:pPr algn="l">
              <a:lnSpc>
                <a:spcPts val="5399"/>
              </a:lnSpc>
            </a:pPr>
            <a:r>
              <a:rPr lang="en-US" sz="2775">
                <a:solidFill>
                  <a:srgbClr val="2B3541"/>
                </a:solidFill>
                <a:latin typeface="Times New Roman"/>
                <a:ea typeface="Times New Roman"/>
                <a:cs typeface="Times New Roman"/>
                <a:sym typeface="Times New Roman"/>
              </a:rPr>
              <a:t>·</a:t>
            </a:r>
          </a:p>
        </p:txBody>
      </p:sp>
      <p:sp>
        <p:nvSpPr>
          <p:cNvPr name="TextBox 4" id="4"/>
          <p:cNvSpPr txBox="true"/>
          <p:nvPr/>
        </p:nvSpPr>
        <p:spPr>
          <a:xfrm rot="0">
            <a:off x="1828086" y="6383645"/>
            <a:ext cx="11202829" cy="1358617"/>
          </a:xfrm>
          <a:prstGeom prst="rect">
            <a:avLst/>
          </a:prstGeom>
        </p:spPr>
        <p:txBody>
          <a:bodyPr anchor="t" rtlCol="false" tIns="0" lIns="0" bIns="0" rIns="0">
            <a:spAutoFit/>
          </a:bodyPr>
          <a:lstStyle/>
          <a:p>
            <a:pPr algn="l">
              <a:lnSpc>
                <a:spcPts val="5399"/>
              </a:lnSpc>
            </a:pPr>
            <a:r>
              <a:rPr lang="en-US" sz="2775">
                <a:solidFill>
                  <a:srgbClr val="2B3541"/>
                </a:solidFill>
                <a:latin typeface="Times New Roman"/>
                <a:ea typeface="Times New Roman"/>
                <a:cs typeface="Times New Roman"/>
                <a:sym typeface="Times New Roman"/>
              </a:rPr>
              <a:t>·</a:t>
            </a:r>
          </a:p>
        </p:txBody>
      </p:sp>
      <p:sp>
        <p:nvSpPr>
          <p:cNvPr name="TextBox 5" id="5"/>
          <p:cNvSpPr txBox="true"/>
          <p:nvPr/>
        </p:nvSpPr>
        <p:spPr>
          <a:xfrm rot="0">
            <a:off x="1828086" y="7936516"/>
            <a:ext cx="11202829" cy="784088"/>
          </a:xfrm>
          <a:prstGeom prst="rect">
            <a:avLst/>
          </a:prstGeom>
        </p:spPr>
        <p:txBody>
          <a:bodyPr anchor="t" rtlCol="false" tIns="0" lIns="0" bIns="0" rIns="0">
            <a:spAutoFit/>
          </a:bodyPr>
          <a:lstStyle/>
          <a:p>
            <a:pPr algn="l">
              <a:lnSpc>
                <a:spcPts val="5399"/>
              </a:lnSpc>
            </a:pPr>
            <a:r>
              <a:rPr lang="en-US" sz="2775">
                <a:solidFill>
                  <a:srgbClr val="2B3541"/>
                </a:solidFill>
                <a:latin typeface="Times New Roman"/>
                <a:ea typeface="Times New Roman"/>
                <a:cs typeface="Times New Roman"/>
                <a:sym typeface="Times New Roman"/>
              </a:rPr>
              <a:t>·</a:t>
            </a:r>
          </a:p>
        </p:txBody>
      </p:sp>
      <p:sp>
        <p:nvSpPr>
          <p:cNvPr name="TextBox 6" id="6"/>
          <p:cNvSpPr txBox="true"/>
          <p:nvPr/>
        </p:nvSpPr>
        <p:spPr>
          <a:xfrm rot="0">
            <a:off x="2093976" y="2824734"/>
            <a:ext cx="10068001" cy="989438"/>
          </a:xfrm>
          <a:prstGeom prst="rect">
            <a:avLst/>
          </a:prstGeom>
        </p:spPr>
        <p:txBody>
          <a:bodyPr anchor="t" rtlCol="false" tIns="0" lIns="0" bIns="0" rIns="0">
            <a:spAutoFit/>
          </a:bodyPr>
          <a:lstStyle/>
          <a:p>
            <a:pPr algn="l">
              <a:lnSpc>
                <a:spcPts val="3600"/>
              </a:lnSpc>
            </a:pPr>
            <a:r>
              <a:rPr lang="en-US" sz="3000">
                <a:solidFill>
                  <a:srgbClr val="FF0000"/>
                </a:solidFill>
                <a:latin typeface="Arial"/>
                <a:ea typeface="Arial"/>
                <a:cs typeface="Arial"/>
                <a:sym typeface="Arial"/>
              </a:rPr>
              <a:t>Please put IBM Bob output screenshots with 2-3 prompts. </a:t>
            </a:r>
          </a:p>
          <a:p>
            <a:pPr algn="l">
              <a:lnSpc>
                <a:spcPts val="3600"/>
              </a:lnSpc>
            </a:pPr>
            <a:r>
              <a:rPr lang="en-US" sz="3000">
                <a:solidFill>
                  <a:srgbClr val="FF0000"/>
                </a:solidFill>
                <a:latin typeface="Arial"/>
                <a:ea typeface="Arial"/>
                <a:cs typeface="Arial"/>
                <a:sym typeface="Arial"/>
              </a:rPr>
              <a:t>You can take 2-3 more slides for each screenshot</a:t>
            </a:r>
          </a:p>
        </p:txBody>
      </p:sp>
      <p:grpSp>
        <p:nvGrpSpPr>
          <p:cNvPr name="Group 7" id="7"/>
          <p:cNvGrpSpPr/>
          <p:nvPr/>
        </p:nvGrpSpPr>
        <p:grpSpPr>
          <a:xfrm rot="0">
            <a:off x="1206741" y="1028700"/>
            <a:ext cx="15874517" cy="8917515"/>
            <a:chOff x="0" y="0"/>
            <a:chExt cx="21166023" cy="11890019"/>
          </a:xfrm>
        </p:grpSpPr>
        <p:sp>
          <p:nvSpPr>
            <p:cNvPr name="Freeform 8" id="8"/>
            <p:cNvSpPr/>
            <p:nvPr/>
          </p:nvSpPr>
          <p:spPr>
            <a:xfrm flipH="false" flipV="false" rot="0">
              <a:off x="0" y="0"/>
              <a:ext cx="21166074" cy="11889994"/>
            </a:xfrm>
            <a:custGeom>
              <a:avLst/>
              <a:gdLst/>
              <a:ahLst/>
              <a:cxnLst/>
              <a:rect r="r" b="b" t="t" l="l"/>
              <a:pathLst>
                <a:path h="11889994" w="21166074">
                  <a:moveTo>
                    <a:pt x="0" y="0"/>
                  </a:moveTo>
                  <a:lnTo>
                    <a:pt x="21166074" y="0"/>
                  </a:lnTo>
                  <a:lnTo>
                    <a:pt x="21166074" y="11889994"/>
                  </a:lnTo>
                  <a:lnTo>
                    <a:pt x="0" y="11889994"/>
                  </a:lnTo>
                  <a:lnTo>
                    <a:pt x="0" y="0"/>
                  </a:lnTo>
                  <a:close/>
                </a:path>
              </a:pathLst>
            </a:custGeom>
            <a:blipFill>
              <a:blip r:embed="rId3"/>
              <a:stretch>
                <a:fillRect l="0" t="-393" r="0" b="-393"/>
              </a:stretch>
            </a:blipFill>
          </p:spPr>
        </p:sp>
      </p:gr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257300" y="744093"/>
            <a:ext cx="10501884" cy="571500"/>
          </a:xfrm>
          <a:prstGeom prst="rect">
            <a:avLst/>
          </a:prstGeom>
        </p:spPr>
        <p:txBody>
          <a:bodyPr anchor="t" rtlCol="false" tIns="0" lIns="0" bIns="0" rIns="0">
            <a:spAutoFit/>
          </a:bodyPr>
          <a:lstStyle/>
          <a:p>
            <a:pPr algn="l">
              <a:lnSpc>
                <a:spcPts val="4320"/>
              </a:lnSpc>
            </a:pPr>
            <a:r>
              <a:rPr lang="en-US" sz="3600" b="true">
                <a:solidFill>
                  <a:srgbClr val="000000"/>
                </a:solidFill>
                <a:latin typeface="Arial Bold"/>
                <a:ea typeface="Arial Bold"/>
                <a:cs typeface="Arial Bold"/>
                <a:sym typeface="Arial Bold"/>
              </a:rPr>
              <a:t>Novelty and Uniqueness</a:t>
            </a:r>
          </a:p>
        </p:txBody>
      </p:sp>
      <p:sp>
        <p:nvSpPr>
          <p:cNvPr name="TextBox 3" id="3"/>
          <p:cNvSpPr txBox="true"/>
          <p:nvPr/>
        </p:nvSpPr>
        <p:spPr>
          <a:xfrm rot="0">
            <a:off x="1519057" y="1653952"/>
            <a:ext cx="14013246" cy="7981950"/>
          </a:xfrm>
          <a:prstGeom prst="rect">
            <a:avLst/>
          </a:prstGeom>
        </p:spPr>
        <p:txBody>
          <a:bodyPr anchor="t" rtlCol="false" tIns="0" lIns="0" bIns="0" rIns="0">
            <a:spAutoFit/>
          </a:bodyPr>
          <a:lstStyle/>
          <a:p>
            <a:pPr algn="l" marL="604516" indent="-302258" lvl="1">
              <a:lnSpc>
                <a:spcPts val="3359"/>
              </a:lnSpc>
              <a:buFont typeface="Arial"/>
              <a:buChar char="•"/>
            </a:pPr>
            <a:r>
              <a:rPr lang="en-US" b="true" sz="2799">
                <a:solidFill>
                  <a:srgbClr val="000000"/>
                </a:solidFill>
                <a:latin typeface="Arial Bold"/>
                <a:ea typeface="Arial Bold"/>
                <a:cs typeface="Arial Bold"/>
                <a:sym typeface="Arial Bold"/>
              </a:rPr>
              <a:t>Multi-Ag</a:t>
            </a:r>
            <a:r>
              <a:rPr lang="en-US" b="true" sz="2799">
                <a:solidFill>
                  <a:srgbClr val="000000"/>
                </a:solidFill>
                <a:latin typeface="Arial Bold"/>
                <a:ea typeface="Arial Bold"/>
                <a:cs typeface="Arial Bold"/>
                <a:sym typeface="Arial Bold"/>
              </a:rPr>
              <a:t>ent Verification</a:t>
            </a:r>
            <a:r>
              <a:rPr lang="en-US" sz="2799">
                <a:solidFill>
                  <a:srgbClr val="000000"/>
                </a:solidFill>
                <a:latin typeface="Arial"/>
                <a:ea typeface="Arial"/>
                <a:cs typeface="Arial"/>
                <a:sym typeface="Arial"/>
              </a:rPr>
              <a:t>: Uses multiple specializ</a:t>
            </a:r>
            <a:r>
              <a:rPr lang="en-US" sz="2799">
                <a:solidFill>
                  <a:srgbClr val="000000"/>
                </a:solidFill>
                <a:latin typeface="Arial"/>
                <a:ea typeface="Arial"/>
                <a:cs typeface="Arial"/>
                <a:sym typeface="Arial"/>
              </a:rPr>
              <a:t>e</a:t>
            </a:r>
            <a:r>
              <a:rPr lang="en-US" sz="2799">
                <a:solidFill>
                  <a:srgbClr val="000000"/>
                </a:solidFill>
                <a:latin typeface="Arial"/>
                <a:ea typeface="Arial"/>
                <a:cs typeface="Arial"/>
                <a:sym typeface="Arial"/>
              </a:rPr>
              <a:t>d</a:t>
            </a:r>
            <a:r>
              <a:rPr lang="en-US" sz="2799">
                <a:solidFill>
                  <a:srgbClr val="000000"/>
                </a:solidFill>
                <a:latin typeface="Arial"/>
                <a:ea typeface="Arial"/>
                <a:cs typeface="Arial"/>
                <a:sym typeface="Arial"/>
              </a:rPr>
              <a:t> AI a</a:t>
            </a:r>
            <a:r>
              <a:rPr lang="en-US" sz="2799">
                <a:solidFill>
                  <a:srgbClr val="000000"/>
                </a:solidFill>
                <a:latin typeface="Arial"/>
                <a:ea typeface="Arial"/>
                <a:cs typeface="Arial"/>
                <a:sym typeface="Arial"/>
              </a:rPr>
              <a:t>g</a:t>
            </a:r>
            <a:r>
              <a:rPr lang="en-US" sz="2799">
                <a:solidFill>
                  <a:srgbClr val="000000"/>
                </a:solidFill>
                <a:latin typeface="Arial"/>
                <a:ea typeface="Arial"/>
                <a:cs typeface="Arial"/>
                <a:sym typeface="Arial"/>
              </a:rPr>
              <a:t>ent</a:t>
            </a:r>
            <a:r>
              <a:rPr lang="en-US" sz="2799">
                <a:solidFill>
                  <a:srgbClr val="000000"/>
                </a:solidFill>
                <a:latin typeface="Arial"/>
                <a:ea typeface="Arial"/>
                <a:cs typeface="Arial"/>
                <a:sym typeface="Arial"/>
              </a:rPr>
              <a:t>s to analyze different asp</a:t>
            </a:r>
            <a:r>
              <a:rPr lang="en-US" sz="2799">
                <a:solidFill>
                  <a:srgbClr val="000000"/>
                </a:solidFill>
                <a:latin typeface="Arial"/>
                <a:ea typeface="Arial"/>
                <a:cs typeface="Arial"/>
                <a:sym typeface="Arial"/>
              </a:rPr>
              <a:t>e</a:t>
            </a:r>
            <a:r>
              <a:rPr lang="en-US" sz="2799">
                <a:solidFill>
                  <a:srgbClr val="000000"/>
                </a:solidFill>
                <a:latin typeface="Arial"/>
                <a:ea typeface="Arial"/>
                <a:cs typeface="Arial"/>
                <a:sym typeface="Arial"/>
              </a:rPr>
              <a:t>c</a:t>
            </a:r>
            <a:r>
              <a:rPr lang="en-US" sz="2799">
                <a:solidFill>
                  <a:srgbClr val="000000"/>
                </a:solidFill>
                <a:latin typeface="Arial"/>
                <a:ea typeface="Arial"/>
                <a:cs typeface="Arial"/>
                <a:sym typeface="Arial"/>
              </a:rPr>
              <a:t>t</a:t>
            </a:r>
            <a:r>
              <a:rPr lang="en-US" sz="2799">
                <a:solidFill>
                  <a:srgbClr val="000000"/>
                </a:solidFill>
                <a:latin typeface="Arial"/>
                <a:ea typeface="Arial"/>
                <a:cs typeface="Arial"/>
                <a:sym typeface="Arial"/>
              </a:rPr>
              <a:t>s</a:t>
            </a:r>
            <a:r>
              <a:rPr lang="en-US" sz="2799">
                <a:solidFill>
                  <a:srgbClr val="000000"/>
                </a:solidFill>
                <a:latin typeface="Arial"/>
                <a:ea typeface="Arial"/>
                <a:cs typeface="Arial"/>
                <a:sym typeface="Arial"/>
              </a:rPr>
              <a:t> </a:t>
            </a:r>
            <a:r>
              <a:rPr lang="en-US" sz="2799">
                <a:solidFill>
                  <a:srgbClr val="000000"/>
                </a:solidFill>
                <a:latin typeface="Arial"/>
                <a:ea typeface="Arial"/>
                <a:cs typeface="Arial"/>
                <a:sym typeface="Arial"/>
              </a:rPr>
              <a:t>of a job or i</a:t>
            </a:r>
            <a:r>
              <a:rPr lang="en-US" sz="2799">
                <a:solidFill>
                  <a:srgbClr val="000000"/>
                </a:solidFill>
                <a:latin typeface="Arial"/>
                <a:ea typeface="Arial"/>
                <a:cs typeface="Arial"/>
                <a:sym typeface="Arial"/>
              </a:rPr>
              <a:t>nte</a:t>
            </a:r>
            <a:r>
              <a:rPr lang="en-US" sz="2799">
                <a:solidFill>
                  <a:srgbClr val="000000"/>
                </a:solidFill>
                <a:latin typeface="Arial"/>
                <a:ea typeface="Arial"/>
                <a:cs typeface="Arial"/>
                <a:sym typeface="Arial"/>
              </a:rPr>
              <a:t>rnsh</a:t>
            </a:r>
            <a:r>
              <a:rPr lang="en-US" sz="2799">
                <a:solidFill>
                  <a:srgbClr val="000000"/>
                </a:solidFill>
                <a:latin typeface="Arial"/>
                <a:ea typeface="Arial"/>
                <a:cs typeface="Arial"/>
                <a:sym typeface="Arial"/>
              </a:rPr>
              <a:t>i</a:t>
            </a:r>
            <a:r>
              <a:rPr lang="en-US" sz="2799">
                <a:solidFill>
                  <a:srgbClr val="000000"/>
                </a:solidFill>
                <a:latin typeface="Arial"/>
                <a:ea typeface="Arial"/>
                <a:cs typeface="Arial"/>
                <a:sym typeface="Arial"/>
              </a:rPr>
              <a:t>p off</a:t>
            </a:r>
            <a:r>
              <a:rPr lang="en-US" sz="2799">
                <a:solidFill>
                  <a:srgbClr val="000000"/>
                </a:solidFill>
                <a:latin typeface="Arial"/>
                <a:ea typeface="Arial"/>
                <a:cs typeface="Arial"/>
                <a:sym typeface="Arial"/>
              </a:rPr>
              <a:t>e</a:t>
            </a:r>
            <a:r>
              <a:rPr lang="en-US" sz="2799">
                <a:solidFill>
                  <a:srgbClr val="000000"/>
                </a:solidFill>
                <a:latin typeface="Arial"/>
                <a:ea typeface="Arial"/>
                <a:cs typeface="Arial"/>
                <a:sym typeface="Arial"/>
              </a:rPr>
              <a:t>r instead of depending on a single AI response.</a:t>
            </a:r>
          </a:p>
          <a:p>
            <a:pPr algn="l" marL="604516" indent="-302258" lvl="1">
              <a:lnSpc>
                <a:spcPts val="3359"/>
              </a:lnSpc>
              <a:buFont typeface="Arial"/>
              <a:buChar char="•"/>
            </a:pPr>
            <a:r>
              <a:rPr lang="en-US" b="true" sz="2799">
                <a:solidFill>
                  <a:srgbClr val="000000"/>
                </a:solidFill>
                <a:latin typeface="Arial Bold"/>
                <a:ea typeface="Arial Bold"/>
                <a:cs typeface="Arial Bold"/>
                <a:sym typeface="Arial Bold"/>
              </a:rPr>
              <a:t>Explainable Risk Score</a:t>
            </a:r>
            <a:r>
              <a:rPr lang="en-US" sz="2799">
                <a:solidFill>
                  <a:srgbClr val="000000"/>
                </a:solidFill>
                <a:latin typeface="Arial"/>
                <a:ea typeface="Arial"/>
                <a:cs typeface="Arial"/>
                <a:sym typeface="Arial"/>
              </a:rPr>
              <a:t>: Provides a 0–100 risk score along with the specific warning in</a:t>
            </a:r>
            <a:r>
              <a:rPr lang="en-US" sz="2799">
                <a:solidFill>
                  <a:srgbClr val="000000"/>
                </a:solidFill>
                <a:latin typeface="Arial"/>
                <a:ea typeface="Arial"/>
                <a:cs typeface="Arial"/>
                <a:sym typeface="Arial"/>
              </a:rPr>
              <a:t>d</a:t>
            </a:r>
            <a:r>
              <a:rPr lang="en-US" sz="2799">
                <a:solidFill>
                  <a:srgbClr val="000000"/>
                </a:solidFill>
                <a:latin typeface="Arial"/>
                <a:ea typeface="Arial"/>
                <a:cs typeface="Arial"/>
                <a:sym typeface="Arial"/>
              </a:rPr>
              <a:t>i</a:t>
            </a:r>
            <a:r>
              <a:rPr lang="en-US" sz="2799">
                <a:solidFill>
                  <a:srgbClr val="000000"/>
                </a:solidFill>
                <a:latin typeface="Arial"/>
                <a:ea typeface="Arial"/>
                <a:cs typeface="Arial"/>
                <a:sym typeface="Arial"/>
              </a:rPr>
              <a:t>ca</a:t>
            </a:r>
            <a:r>
              <a:rPr lang="en-US" sz="2799">
                <a:solidFill>
                  <a:srgbClr val="000000"/>
                </a:solidFill>
                <a:latin typeface="Arial"/>
                <a:ea typeface="Arial"/>
                <a:cs typeface="Arial"/>
                <a:sym typeface="Arial"/>
              </a:rPr>
              <a:t>tors responsible for the assessment.</a:t>
            </a:r>
          </a:p>
          <a:p>
            <a:pPr algn="l" marL="604516" indent="-302258" lvl="1">
              <a:lnSpc>
                <a:spcPts val="3359"/>
              </a:lnSpc>
              <a:buFont typeface="Arial"/>
              <a:buChar char="•"/>
            </a:pPr>
            <a:r>
              <a:rPr lang="en-US" b="true" sz="2799">
                <a:solidFill>
                  <a:srgbClr val="000000"/>
                </a:solidFill>
                <a:latin typeface="Arial Bold"/>
                <a:ea typeface="Arial Bold"/>
                <a:cs typeface="Arial Bold"/>
                <a:sym typeface="Arial Bold"/>
              </a:rPr>
              <a:t>Verification Trail</a:t>
            </a:r>
            <a:r>
              <a:rPr lang="en-US" sz="2799">
                <a:solidFill>
                  <a:srgbClr val="000000"/>
                </a:solidFill>
                <a:latin typeface="Arial"/>
                <a:ea typeface="Arial"/>
                <a:cs typeface="Arial"/>
                <a:sym typeface="Arial"/>
              </a:rPr>
              <a:t>: Maintains a transparent step-by-step trail from information </a:t>
            </a:r>
            <a:r>
              <a:rPr lang="en-US" sz="2799">
                <a:solidFill>
                  <a:srgbClr val="000000"/>
                </a:solidFill>
                <a:latin typeface="Arial"/>
                <a:ea typeface="Arial"/>
                <a:cs typeface="Arial"/>
                <a:sym typeface="Arial"/>
              </a:rPr>
              <a:t>e</a:t>
            </a:r>
            <a:r>
              <a:rPr lang="en-US" sz="2799">
                <a:solidFill>
                  <a:srgbClr val="000000"/>
                </a:solidFill>
                <a:latin typeface="Arial"/>
                <a:ea typeface="Arial"/>
                <a:cs typeface="Arial"/>
                <a:sym typeface="Arial"/>
              </a:rPr>
              <a:t>xt</a:t>
            </a:r>
            <a:r>
              <a:rPr lang="en-US" sz="2799">
                <a:solidFill>
                  <a:srgbClr val="000000"/>
                </a:solidFill>
                <a:latin typeface="Arial"/>
                <a:ea typeface="Arial"/>
                <a:cs typeface="Arial"/>
                <a:sym typeface="Arial"/>
              </a:rPr>
              <a:t>r</a:t>
            </a:r>
            <a:r>
              <a:rPr lang="en-US" sz="2799">
                <a:solidFill>
                  <a:srgbClr val="000000"/>
                </a:solidFill>
                <a:latin typeface="Arial"/>
                <a:ea typeface="Arial"/>
                <a:cs typeface="Arial"/>
                <a:sym typeface="Arial"/>
              </a:rPr>
              <a:t>acti</a:t>
            </a:r>
            <a:r>
              <a:rPr lang="en-US" sz="2799">
                <a:solidFill>
                  <a:srgbClr val="000000"/>
                </a:solidFill>
                <a:latin typeface="Arial"/>
                <a:ea typeface="Arial"/>
                <a:cs typeface="Arial"/>
                <a:sym typeface="Arial"/>
              </a:rPr>
              <a:t>on</a:t>
            </a:r>
            <a:r>
              <a:rPr lang="en-US" sz="2799">
                <a:solidFill>
                  <a:srgbClr val="000000"/>
                </a:solidFill>
                <a:latin typeface="Arial"/>
                <a:ea typeface="Arial"/>
                <a:cs typeface="Arial"/>
                <a:sym typeface="Arial"/>
              </a:rPr>
              <a:t> → verif</a:t>
            </a:r>
            <a:r>
              <a:rPr lang="en-US" sz="2799">
                <a:solidFill>
                  <a:srgbClr val="000000"/>
                </a:solidFill>
                <a:latin typeface="Arial"/>
                <a:ea typeface="Arial"/>
                <a:cs typeface="Arial"/>
                <a:sym typeface="Arial"/>
              </a:rPr>
              <a:t>i</a:t>
            </a:r>
            <a:r>
              <a:rPr lang="en-US" sz="2799">
                <a:solidFill>
                  <a:srgbClr val="000000"/>
                </a:solidFill>
                <a:latin typeface="Arial"/>
                <a:ea typeface="Arial"/>
                <a:cs typeface="Arial"/>
                <a:sym typeface="Arial"/>
              </a:rPr>
              <a:t>c</a:t>
            </a:r>
            <a:r>
              <a:rPr lang="en-US" sz="2799">
                <a:solidFill>
                  <a:srgbClr val="000000"/>
                </a:solidFill>
                <a:latin typeface="Arial"/>
                <a:ea typeface="Arial"/>
                <a:cs typeface="Arial"/>
                <a:sym typeface="Arial"/>
              </a:rPr>
              <a:t>ation</a:t>
            </a:r>
            <a:r>
              <a:rPr lang="en-US" sz="2799">
                <a:solidFill>
                  <a:srgbClr val="000000"/>
                </a:solidFill>
                <a:latin typeface="Arial"/>
                <a:ea typeface="Arial"/>
                <a:cs typeface="Arial"/>
                <a:sym typeface="Arial"/>
              </a:rPr>
              <a:t> → </a:t>
            </a:r>
            <a:r>
              <a:rPr lang="en-US" b="true" sz="2799">
                <a:solidFill>
                  <a:srgbClr val="000000"/>
                </a:solidFill>
                <a:latin typeface="Arial Bold"/>
                <a:ea typeface="Arial Bold"/>
                <a:cs typeface="Arial Bold"/>
                <a:sym typeface="Arial Bold"/>
              </a:rPr>
              <a:t>scam detection</a:t>
            </a:r>
            <a:r>
              <a:rPr lang="en-US" sz="2799">
                <a:solidFill>
                  <a:srgbClr val="000000"/>
                </a:solidFill>
                <a:latin typeface="Arial"/>
                <a:ea typeface="Arial"/>
                <a:cs typeface="Arial"/>
                <a:sym typeface="Arial"/>
              </a:rPr>
              <a:t> → consistency analysis → risk assessment.</a:t>
            </a:r>
          </a:p>
          <a:p>
            <a:pPr algn="l" marL="604516" indent="-302258" lvl="1">
              <a:lnSpc>
                <a:spcPts val="3359"/>
              </a:lnSpc>
              <a:buFont typeface="Arial"/>
              <a:buChar char="•"/>
            </a:pPr>
            <a:r>
              <a:rPr lang="en-US" b="true" sz="2799">
                <a:solidFill>
                  <a:srgbClr val="000000"/>
                </a:solidFill>
                <a:latin typeface="Arial Bold"/>
                <a:ea typeface="Arial Bold"/>
                <a:cs typeface="Arial Bold"/>
                <a:sym typeface="Arial Bold"/>
              </a:rPr>
              <a:t>Cross-Source Consistency Check</a:t>
            </a:r>
            <a:r>
              <a:rPr lang="en-US" sz="2799">
                <a:solidFill>
                  <a:srgbClr val="000000"/>
                </a:solidFill>
                <a:latin typeface="Arial"/>
                <a:ea typeface="Arial"/>
                <a:cs typeface="Arial"/>
                <a:sym typeface="Arial"/>
              </a:rPr>
              <a:t>: Identifies mismatches between the offer letter, recruiter, company, </a:t>
            </a:r>
            <a:r>
              <a:rPr lang="en-US" sz="2799">
                <a:solidFill>
                  <a:srgbClr val="000000"/>
                </a:solidFill>
                <a:latin typeface="Arial"/>
                <a:ea typeface="Arial"/>
                <a:cs typeface="Arial"/>
                <a:sym typeface="Arial"/>
              </a:rPr>
              <a:t>e</a:t>
            </a:r>
            <a:r>
              <a:rPr lang="en-US" sz="2799">
                <a:solidFill>
                  <a:srgbClr val="000000"/>
                </a:solidFill>
                <a:latin typeface="Arial"/>
                <a:ea typeface="Arial"/>
                <a:cs typeface="Arial"/>
                <a:sym typeface="Arial"/>
              </a:rPr>
              <a:t>m</a:t>
            </a:r>
            <a:r>
              <a:rPr lang="en-US" sz="2799">
                <a:solidFill>
                  <a:srgbClr val="000000"/>
                </a:solidFill>
                <a:latin typeface="Arial"/>
                <a:ea typeface="Arial"/>
                <a:cs typeface="Arial"/>
                <a:sym typeface="Arial"/>
              </a:rPr>
              <a:t>ai</a:t>
            </a:r>
            <a:r>
              <a:rPr lang="en-US" sz="2799">
                <a:solidFill>
                  <a:srgbClr val="000000"/>
                </a:solidFill>
                <a:latin typeface="Arial"/>
                <a:ea typeface="Arial"/>
                <a:cs typeface="Arial"/>
                <a:sym typeface="Arial"/>
              </a:rPr>
              <a:t>l</a:t>
            </a:r>
            <a:r>
              <a:rPr lang="en-US" sz="2799">
                <a:solidFill>
                  <a:srgbClr val="000000"/>
                </a:solidFill>
                <a:latin typeface="Arial"/>
                <a:ea typeface="Arial"/>
                <a:cs typeface="Arial"/>
                <a:sym typeface="Arial"/>
              </a:rPr>
              <a:t> d</a:t>
            </a:r>
            <a:r>
              <a:rPr lang="en-US" sz="2799">
                <a:solidFill>
                  <a:srgbClr val="000000"/>
                </a:solidFill>
                <a:latin typeface="Arial"/>
                <a:ea typeface="Arial"/>
                <a:cs typeface="Arial"/>
                <a:sym typeface="Arial"/>
              </a:rPr>
              <a:t>om</a:t>
            </a:r>
            <a:r>
              <a:rPr lang="en-US" sz="2799">
                <a:solidFill>
                  <a:srgbClr val="000000"/>
                </a:solidFill>
                <a:latin typeface="Arial"/>
                <a:ea typeface="Arial"/>
                <a:cs typeface="Arial"/>
                <a:sym typeface="Arial"/>
              </a:rPr>
              <a:t>a</a:t>
            </a:r>
            <a:r>
              <a:rPr lang="en-US" sz="2799">
                <a:solidFill>
                  <a:srgbClr val="000000"/>
                </a:solidFill>
                <a:latin typeface="Arial"/>
                <a:ea typeface="Arial"/>
                <a:cs typeface="Arial"/>
                <a:sym typeface="Arial"/>
              </a:rPr>
              <a:t>in,</a:t>
            </a:r>
            <a:r>
              <a:rPr lang="en-US" sz="2799">
                <a:solidFill>
                  <a:srgbClr val="000000"/>
                </a:solidFill>
                <a:latin typeface="Arial"/>
                <a:ea typeface="Arial"/>
                <a:cs typeface="Arial"/>
                <a:sym typeface="Arial"/>
              </a:rPr>
              <a:t> </a:t>
            </a:r>
            <a:r>
              <a:rPr lang="en-US" sz="2799">
                <a:solidFill>
                  <a:srgbClr val="000000"/>
                </a:solidFill>
                <a:latin typeface="Arial"/>
                <a:ea typeface="Arial"/>
                <a:cs typeface="Arial"/>
                <a:sym typeface="Arial"/>
              </a:rPr>
              <a:t>j</a:t>
            </a:r>
            <a:r>
              <a:rPr lang="en-US" sz="2799">
                <a:solidFill>
                  <a:srgbClr val="000000"/>
                </a:solidFill>
                <a:latin typeface="Arial"/>
                <a:ea typeface="Arial"/>
                <a:cs typeface="Arial"/>
                <a:sym typeface="Arial"/>
              </a:rPr>
              <a:t>o</a:t>
            </a:r>
            <a:r>
              <a:rPr lang="en-US" sz="2799">
                <a:solidFill>
                  <a:srgbClr val="000000"/>
                </a:solidFill>
                <a:latin typeface="Arial"/>
                <a:ea typeface="Arial"/>
                <a:cs typeface="Arial"/>
                <a:sym typeface="Arial"/>
              </a:rPr>
              <a:t>b descri</a:t>
            </a:r>
            <a:r>
              <a:rPr lang="en-US" sz="2799">
                <a:solidFill>
                  <a:srgbClr val="000000"/>
                </a:solidFill>
                <a:latin typeface="Arial"/>
                <a:ea typeface="Arial"/>
                <a:cs typeface="Arial"/>
                <a:sym typeface="Arial"/>
              </a:rPr>
              <a:t>p</a:t>
            </a:r>
            <a:r>
              <a:rPr lang="en-US" sz="2799">
                <a:solidFill>
                  <a:srgbClr val="000000"/>
                </a:solidFill>
                <a:latin typeface="Arial"/>
                <a:ea typeface="Arial"/>
                <a:cs typeface="Arial"/>
                <a:sym typeface="Arial"/>
              </a:rPr>
              <a:t>tion, salary, and contact information.</a:t>
            </a:r>
          </a:p>
          <a:p>
            <a:pPr algn="l" marL="604516" indent="-302258" lvl="1">
              <a:lnSpc>
                <a:spcPts val="3359"/>
              </a:lnSpc>
              <a:buFont typeface="Arial"/>
              <a:buChar char="•"/>
            </a:pPr>
            <a:r>
              <a:rPr lang="en-US" b="true" sz="2799">
                <a:solidFill>
                  <a:srgbClr val="000000"/>
                </a:solidFill>
                <a:latin typeface="Arial Bold"/>
                <a:ea typeface="Arial Bold"/>
                <a:cs typeface="Arial Bold"/>
                <a:sym typeface="Arial Bold"/>
              </a:rPr>
              <a:t>RAG-Based Verification</a:t>
            </a:r>
            <a:r>
              <a:rPr lang="en-US" sz="2799">
                <a:solidFill>
                  <a:srgbClr val="000000"/>
                </a:solidFill>
                <a:latin typeface="Arial"/>
                <a:ea typeface="Arial"/>
                <a:cs typeface="Arial"/>
                <a:sym typeface="Arial"/>
              </a:rPr>
              <a:t>: Retrieves relevant recr</a:t>
            </a:r>
            <a:r>
              <a:rPr lang="en-US" sz="2799">
                <a:solidFill>
                  <a:srgbClr val="000000"/>
                </a:solidFill>
                <a:latin typeface="Arial"/>
                <a:ea typeface="Arial"/>
                <a:cs typeface="Arial"/>
                <a:sym typeface="Arial"/>
              </a:rPr>
              <a:t>u</a:t>
            </a:r>
            <a:r>
              <a:rPr lang="en-US" sz="2799">
                <a:solidFill>
                  <a:srgbClr val="000000"/>
                </a:solidFill>
                <a:latin typeface="Arial"/>
                <a:ea typeface="Arial"/>
                <a:cs typeface="Arial"/>
                <a:sym typeface="Arial"/>
              </a:rPr>
              <a:t>itmen</a:t>
            </a:r>
            <a:r>
              <a:rPr lang="en-US" sz="2799">
                <a:solidFill>
                  <a:srgbClr val="000000"/>
                </a:solidFill>
                <a:latin typeface="Arial"/>
                <a:ea typeface="Arial"/>
                <a:cs typeface="Arial"/>
                <a:sym typeface="Arial"/>
              </a:rPr>
              <a:t>t</a:t>
            </a:r>
            <a:r>
              <a:rPr lang="en-US" sz="2799">
                <a:solidFill>
                  <a:srgbClr val="000000"/>
                </a:solidFill>
                <a:latin typeface="Arial"/>
                <a:ea typeface="Arial"/>
                <a:cs typeface="Arial"/>
                <a:sym typeface="Arial"/>
              </a:rPr>
              <a:t> gu</a:t>
            </a:r>
            <a:r>
              <a:rPr lang="en-US" sz="2799">
                <a:solidFill>
                  <a:srgbClr val="000000"/>
                </a:solidFill>
                <a:latin typeface="Arial"/>
                <a:ea typeface="Arial"/>
                <a:cs typeface="Arial"/>
                <a:sym typeface="Arial"/>
              </a:rPr>
              <a:t>id</a:t>
            </a:r>
            <a:r>
              <a:rPr lang="en-US" sz="2799">
                <a:solidFill>
                  <a:srgbClr val="000000"/>
                </a:solidFill>
                <a:latin typeface="Arial"/>
                <a:ea typeface="Arial"/>
                <a:cs typeface="Arial"/>
                <a:sym typeface="Arial"/>
              </a:rPr>
              <a:t>elines </a:t>
            </a:r>
            <a:r>
              <a:rPr lang="en-US" sz="2799">
                <a:solidFill>
                  <a:srgbClr val="000000"/>
                </a:solidFill>
                <a:latin typeface="Arial"/>
                <a:ea typeface="Arial"/>
                <a:cs typeface="Arial"/>
                <a:sym typeface="Arial"/>
              </a:rPr>
              <a:t>a</a:t>
            </a:r>
            <a:r>
              <a:rPr lang="en-US" sz="2799">
                <a:solidFill>
                  <a:srgbClr val="000000"/>
                </a:solidFill>
                <a:latin typeface="Arial"/>
                <a:ea typeface="Arial"/>
                <a:cs typeface="Arial"/>
                <a:sym typeface="Arial"/>
              </a:rPr>
              <a:t>nd</a:t>
            </a:r>
            <a:r>
              <a:rPr lang="en-US" sz="2799">
                <a:solidFill>
                  <a:srgbClr val="000000"/>
                </a:solidFill>
                <a:latin typeface="Arial"/>
                <a:ea typeface="Arial"/>
                <a:cs typeface="Arial"/>
                <a:sym typeface="Arial"/>
              </a:rPr>
              <a:t> </a:t>
            </a:r>
            <a:r>
              <a:rPr lang="en-US" sz="2799">
                <a:solidFill>
                  <a:srgbClr val="000000"/>
                </a:solidFill>
                <a:latin typeface="Arial"/>
                <a:ea typeface="Arial"/>
                <a:cs typeface="Arial"/>
                <a:sym typeface="Arial"/>
              </a:rPr>
              <a:t>k</a:t>
            </a:r>
            <a:r>
              <a:rPr lang="en-US" sz="2799">
                <a:solidFill>
                  <a:srgbClr val="000000"/>
                </a:solidFill>
                <a:latin typeface="Arial"/>
                <a:ea typeface="Arial"/>
                <a:cs typeface="Arial"/>
                <a:sym typeface="Arial"/>
              </a:rPr>
              <a:t>n</a:t>
            </a:r>
            <a:r>
              <a:rPr lang="en-US" sz="2799">
                <a:solidFill>
                  <a:srgbClr val="000000"/>
                </a:solidFill>
                <a:latin typeface="Arial"/>
                <a:ea typeface="Arial"/>
                <a:cs typeface="Arial"/>
                <a:sym typeface="Arial"/>
              </a:rPr>
              <a:t>own scam </a:t>
            </a:r>
            <a:r>
              <a:rPr lang="en-US" sz="2799">
                <a:solidFill>
                  <a:srgbClr val="000000"/>
                </a:solidFill>
                <a:latin typeface="Arial"/>
                <a:ea typeface="Arial"/>
                <a:cs typeface="Arial"/>
                <a:sym typeface="Arial"/>
              </a:rPr>
              <a:t>p</a:t>
            </a:r>
            <a:r>
              <a:rPr lang="en-US" sz="2799">
                <a:solidFill>
                  <a:srgbClr val="000000"/>
                </a:solidFill>
                <a:latin typeface="Arial"/>
                <a:ea typeface="Arial"/>
                <a:cs typeface="Arial"/>
                <a:sym typeface="Arial"/>
              </a:rPr>
              <a:t>at</a:t>
            </a:r>
            <a:r>
              <a:rPr lang="en-US" sz="2799">
                <a:solidFill>
                  <a:srgbClr val="000000"/>
                </a:solidFill>
                <a:latin typeface="Arial"/>
                <a:ea typeface="Arial"/>
                <a:cs typeface="Arial"/>
                <a:sym typeface="Arial"/>
              </a:rPr>
              <a:t>t</a:t>
            </a:r>
            <a:r>
              <a:rPr lang="en-US" sz="2799">
                <a:solidFill>
                  <a:srgbClr val="000000"/>
                </a:solidFill>
                <a:latin typeface="Arial"/>
                <a:ea typeface="Arial"/>
                <a:cs typeface="Arial"/>
                <a:sym typeface="Arial"/>
              </a:rPr>
              <a:t>erns to support the AI's analysis with contextual </a:t>
            </a:r>
            <a:r>
              <a:rPr lang="en-US" sz="2799">
                <a:solidFill>
                  <a:srgbClr val="000000"/>
                </a:solidFill>
                <a:latin typeface="Arial"/>
                <a:ea typeface="Arial"/>
                <a:cs typeface="Arial"/>
                <a:sym typeface="Arial"/>
              </a:rPr>
              <a:t>ev</a:t>
            </a:r>
            <a:r>
              <a:rPr lang="en-US" sz="2799">
                <a:solidFill>
                  <a:srgbClr val="000000"/>
                </a:solidFill>
                <a:latin typeface="Arial"/>
                <a:ea typeface="Arial"/>
                <a:cs typeface="Arial"/>
                <a:sym typeface="Arial"/>
              </a:rPr>
              <a:t>id</a:t>
            </a:r>
            <a:r>
              <a:rPr lang="en-US" sz="2799">
                <a:solidFill>
                  <a:srgbClr val="000000"/>
                </a:solidFill>
                <a:latin typeface="Arial"/>
                <a:ea typeface="Arial"/>
                <a:cs typeface="Arial"/>
                <a:sym typeface="Arial"/>
              </a:rPr>
              <a:t>en</a:t>
            </a:r>
            <a:r>
              <a:rPr lang="en-US" sz="2799">
                <a:solidFill>
                  <a:srgbClr val="000000"/>
                </a:solidFill>
                <a:latin typeface="Arial"/>
                <a:ea typeface="Arial"/>
                <a:cs typeface="Arial"/>
                <a:sym typeface="Arial"/>
              </a:rPr>
              <a:t>ce.</a:t>
            </a:r>
          </a:p>
          <a:p>
            <a:pPr algn="l" marL="604516" indent="-302258" lvl="1">
              <a:lnSpc>
                <a:spcPts val="3359"/>
              </a:lnSpc>
              <a:buFont typeface="Arial"/>
              <a:buChar char="•"/>
            </a:pPr>
            <a:r>
              <a:rPr lang="en-US" b="true" sz="2799">
                <a:solidFill>
                  <a:srgbClr val="000000"/>
                </a:solidFill>
                <a:latin typeface="Arial Bold"/>
                <a:ea typeface="Arial Bold"/>
                <a:cs typeface="Arial Bold"/>
                <a:sym typeface="Arial Bold"/>
              </a:rPr>
              <a:t>Action-Oriented Safety Guidance</a:t>
            </a:r>
            <a:r>
              <a:rPr lang="en-US" sz="2799">
                <a:solidFill>
                  <a:srgbClr val="000000"/>
                </a:solidFill>
                <a:latin typeface="Arial"/>
                <a:ea typeface="Arial"/>
                <a:cs typeface="Arial"/>
                <a:sym typeface="Arial"/>
              </a:rPr>
              <a:t>: Goes beyond identifying risks by providing practical steps users can t</a:t>
            </a:r>
            <a:r>
              <a:rPr lang="en-US" sz="2799">
                <a:solidFill>
                  <a:srgbClr val="000000"/>
                </a:solidFill>
                <a:latin typeface="Arial"/>
                <a:ea typeface="Arial"/>
                <a:cs typeface="Arial"/>
                <a:sym typeface="Arial"/>
              </a:rPr>
              <a:t>a</a:t>
            </a:r>
            <a:r>
              <a:rPr lang="en-US" sz="2799">
                <a:solidFill>
                  <a:srgbClr val="000000"/>
                </a:solidFill>
                <a:latin typeface="Arial"/>
                <a:ea typeface="Arial"/>
                <a:cs typeface="Arial"/>
                <a:sym typeface="Arial"/>
              </a:rPr>
              <a:t>k</a:t>
            </a:r>
            <a:r>
              <a:rPr lang="en-US" sz="2799">
                <a:solidFill>
                  <a:srgbClr val="000000"/>
                </a:solidFill>
                <a:latin typeface="Arial"/>
                <a:ea typeface="Arial"/>
                <a:cs typeface="Arial"/>
                <a:sym typeface="Arial"/>
              </a:rPr>
              <a:t>e </a:t>
            </a:r>
            <a:r>
              <a:rPr lang="en-US" sz="2799">
                <a:solidFill>
                  <a:srgbClr val="000000"/>
                </a:solidFill>
                <a:latin typeface="Arial"/>
                <a:ea typeface="Arial"/>
                <a:cs typeface="Arial"/>
                <a:sym typeface="Arial"/>
              </a:rPr>
              <a:t>to</a:t>
            </a:r>
            <a:r>
              <a:rPr lang="en-US" sz="2799">
                <a:solidFill>
                  <a:srgbClr val="000000"/>
                </a:solidFill>
                <a:latin typeface="Arial"/>
                <a:ea typeface="Arial"/>
                <a:cs typeface="Arial"/>
                <a:sym typeface="Arial"/>
              </a:rPr>
              <a:t> </a:t>
            </a:r>
            <a:r>
              <a:rPr lang="en-US" sz="2799">
                <a:solidFill>
                  <a:srgbClr val="000000"/>
                </a:solidFill>
                <a:latin typeface="Arial"/>
                <a:ea typeface="Arial"/>
                <a:cs typeface="Arial"/>
                <a:sym typeface="Arial"/>
              </a:rPr>
              <a:t>i</a:t>
            </a:r>
            <a:r>
              <a:rPr lang="en-US" sz="2799">
                <a:solidFill>
                  <a:srgbClr val="000000"/>
                </a:solidFill>
                <a:latin typeface="Arial"/>
                <a:ea typeface="Arial"/>
                <a:cs typeface="Arial"/>
                <a:sym typeface="Arial"/>
              </a:rPr>
              <a:t>n</a:t>
            </a:r>
            <a:r>
              <a:rPr lang="en-US" sz="2799">
                <a:solidFill>
                  <a:srgbClr val="000000"/>
                </a:solidFill>
                <a:latin typeface="Arial"/>
                <a:ea typeface="Arial"/>
                <a:cs typeface="Arial"/>
                <a:sym typeface="Arial"/>
              </a:rPr>
              <a:t>d</a:t>
            </a:r>
            <a:r>
              <a:rPr lang="en-US" sz="2799">
                <a:solidFill>
                  <a:srgbClr val="000000"/>
                </a:solidFill>
                <a:latin typeface="Arial"/>
                <a:ea typeface="Arial"/>
                <a:cs typeface="Arial"/>
                <a:sym typeface="Arial"/>
              </a:rPr>
              <a:t>epe</a:t>
            </a:r>
            <a:r>
              <a:rPr lang="en-US" sz="2799">
                <a:solidFill>
                  <a:srgbClr val="000000"/>
                </a:solidFill>
                <a:latin typeface="Arial"/>
                <a:ea typeface="Arial"/>
                <a:cs typeface="Arial"/>
                <a:sym typeface="Arial"/>
              </a:rPr>
              <a:t>nd</a:t>
            </a:r>
            <a:r>
              <a:rPr lang="en-US" sz="2799">
                <a:solidFill>
                  <a:srgbClr val="000000"/>
                </a:solidFill>
                <a:latin typeface="Arial"/>
                <a:ea typeface="Arial"/>
                <a:cs typeface="Arial"/>
                <a:sym typeface="Arial"/>
              </a:rPr>
              <a:t>e</a:t>
            </a:r>
            <a:r>
              <a:rPr lang="en-US" sz="2799">
                <a:solidFill>
                  <a:srgbClr val="000000"/>
                </a:solidFill>
                <a:latin typeface="Arial"/>
                <a:ea typeface="Arial"/>
                <a:cs typeface="Arial"/>
                <a:sym typeface="Arial"/>
              </a:rPr>
              <a:t>ntl</a:t>
            </a:r>
            <a:r>
              <a:rPr lang="en-US" sz="2799">
                <a:solidFill>
                  <a:srgbClr val="000000"/>
                </a:solidFill>
                <a:latin typeface="Arial"/>
                <a:ea typeface="Arial"/>
                <a:cs typeface="Arial"/>
                <a:sym typeface="Arial"/>
              </a:rPr>
              <a:t>y</a:t>
            </a:r>
            <a:r>
              <a:rPr lang="en-US" sz="2799">
                <a:solidFill>
                  <a:srgbClr val="000000"/>
                </a:solidFill>
                <a:latin typeface="Arial"/>
                <a:ea typeface="Arial"/>
                <a:cs typeface="Arial"/>
                <a:sym typeface="Arial"/>
              </a:rPr>
              <a:t> verify the opportuni</a:t>
            </a:r>
            <a:r>
              <a:rPr lang="en-US" sz="2799">
                <a:solidFill>
                  <a:srgbClr val="000000"/>
                </a:solidFill>
                <a:latin typeface="Arial"/>
                <a:ea typeface="Arial"/>
                <a:cs typeface="Arial"/>
                <a:sym typeface="Arial"/>
              </a:rPr>
              <a:t>t</a:t>
            </a:r>
            <a:r>
              <a:rPr lang="en-US" sz="2799">
                <a:solidFill>
                  <a:srgbClr val="000000"/>
                </a:solidFill>
                <a:latin typeface="Arial"/>
                <a:ea typeface="Arial"/>
                <a:cs typeface="Arial"/>
                <a:sym typeface="Arial"/>
              </a:rPr>
              <a:t>y.</a:t>
            </a:r>
          </a:p>
          <a:p>
            <a:pPr algn="l" marL="604516" indent="-302258" lvl="1">
              <a:lnSpc>
                <a:spcPts val="3359"/>
              </a:lnSpc>
              <a:buFont typeface="Arial"/>
              <a:buChar char="•"/>
            </a:pPr>
            <a:r>
              <a:rPr lang="en-US" b="true" sz="2799">
                <a:solidFill>
                  <a:srgbClr val="000000"/>
                </a:solidFill>
                <a:latin typeface="Arial Bold"/>
                <a:ea typeface="Arial Bold"/>
                <a:cs typeface="Arial Bold"/>
                <a:sym typeface="Arial Bold"/>
              </a:rPr>
              <a:t>Unified Offer Verification</a:t>
            </a:r>
            <a:r>
              <a:rPr lang="en-US" sz="2799">
                <a:solidFill>
                  <a:srgbClr val="000000"/>
                </a:solidFill>
                <a:latin typeface="Arial"/>
                <a:ea typeface="Arial"/>
                <a:cs typeface="Arial"/>
                <a:sym typeface="Arial"/>
              </a:rPr>
              <a:t>: Suppor</a:t>
            </a:r>
            <a:r>
              <a:rPr lang="en-US" sz="2799">
                <a:solidFill>
                  <a:srgbClr val="000000"/>
                </a:solidFill>
                <a:latin typeface="Arial"/>
                <a:ea typeface="Arial"/>
                <a:cs typeface="Arial"/>
                <a:sym typeface="Arial"/>
              </a:rPr>
              <a:t>t</a:t>
            </a:r>
            <a:r>
              <a:rPr lang="en-US" sz="2799">
                <a:solidFill>
                  <a:srgbClr val="000000"/>
                </a:solidFill>
                <a:latin typeface="Arial"/>
                <a:ea typeface="Arial"/>
                <a:cs typeface="Arial"/>
                <a:sym typeface="Arial"/>
              </a:rPr>
              <a:t>s</a:t>
            </a:r>
            <a:r>
              <a:rPr lang="en-US" sz="2799">
                <a:solidFill>
                  <a:srgbClr val="000000"/>
                </a:solidFill>
                <a:latin typeface="Arial"/>
                <a:ea typeface="Arial"/>
                <a:cs typeface="Arial"/>
                <a:sym typeface="Arial"/>
              </a:rPr>
              <a:t> </a:t>
            </a:r>
            <a:r>
              <a:rPr lang="en-US" sz="2799">
                <a:solidFill>
                  <a:srgbClr val="000000"/>
                </a:solidFill>
                <a:latin typeface="Arial"/>
                <a:ea typeface="Arial"/>
                <a:cs typeface="Arial"/>
                <a:sym typeface="Arial"/>
              </a:rPr>
              <a:t>PDF</a:t>
            </a:r>
            <a:r>
              <a:rPr lang="en-US" sz="2799">
                <a:solidFill>
                  <a:srgbClr val="000000"/>
                </a:solidFill>
                <a:latin typeface="Arial"/>
                <a:ea typeface="Arial"/>
                <a:cs typeface="Arial"/>
                <a:sym typeface="Arial"/>
              </a:rPr>
              <a:t>s</a:t>
            </a:r>
            <a:r>
              <a:rPr lang="en-US" sz="2799">
                <a:solidFill>
                  <a:srgbClr val="000000"/>
                </a:solidFill>
                <a:latin typeface="Arial"/>
                <a:ea typeface="Arial"/>
                <a:cs typeface="Arial"/>
                <a:sym typeface="Arial"/>
              </a:rPr>
              <a:t>, screenshots, emails, messages, URLs, and pasted job description</a:t>
            </a:r>
            <a:r>
              <a:rPr lang="en-US" sz="2799">
                <a:solidFill>
                  <a:srgbClr val="000000"/>
                </a:solidFill>
                <a:latin typeface="Arial"/>
                <a:ea typeface="Arial"/>
                <a:cs typeface="Arial"/>
                <a:sym typeface="Arial"/>
              </a:rPr>
              <a:t>s </a:t>
            </a:r>
            <a:r>
              <a:rPr lang="en-US" sz="2799">
                <a:solidFill>
                  <a:srgbClr val="000000"/>
                </a:solidFill>
                <a:latin typeface="Arial"/>
                <a:ea typeface="Arial"/>
                <a:cs typeface="Arial"/>
                <a:sym typeface="Arial"/>
              </a:rPr>
              <a:t>wi</a:t>
            </a:r>
            <a:r>
              <a:rPr lang="en-US" sz="2799">
                <a:solidFill>
                  <a:srgbClr val="000000"/>
                </a:solidFill>
                <a:latin typeface="Arial"/>
                <a:ea typeface="Arial"/>
                <a:cs typeface="Arial"/>
                <a:sym typeface="Arial"/>
              </a:rPr>
              <a:t>t</a:t>
            </a:r>
            <a:r>
              <a:rPr lang="en-US" sz="2799">
                <a:solidFill>
                  <a:srgbClr val="000000"/>
                </a:solidFill>
                <a:latin typeface="Arial"/>
                <a:ea typeface="Arial"/>
                <a:cs typeface="Arial"/>
                <a:sym typeface="Arial"/>
              </a:rPr>
              <a:t>h</a:t>
            </a:r>
            <a:r>
              <a:rPr lang="en-US" sz="2799">
                <a:solidFill>
                  <a:srgbClr val="000000"/>
                </a:solidFill>
                <a:latin typeface="Arial"/>
                <a:ea typeface="Arial"/>
                <a:cs typeface="Arial"/>
                <a:sym typeface="Arial"/>
              </a:rPr>
              <a:t>i</a:t>
            </a:r>
            <a:r>
              <a:rPr lang="en-US" sz="2799">
                <a:solidFill>
                  <a:srgbClr val="000000"/>
                </a:solidFill>
                <a:latin typeface="Arial"/>
                <a:ea typeface="Arial"/>
                <a:cs typeface="Arial"/>
                <a:sym typeface="Arial"/>
              </a:rPr>
              <a:t>n on</a:t>
            </a:r>
            <a:r>
              <a:rPr lang="en-US" sz="2799">
                <a:solidFill>
                  <a:srgbClr val="000000"/>
                </a:solidFill>
                <a:latin typeface="Arial"/>
                <a:ea typeface="Arial"/>
                <a:cs typeface="Arial"/>
                <a:sym typeface="Arial"/>
              </a:rPr>
              <a:t>e </a:t>
            </a:r>
            <a:r>
              <a:rPr lang="en-US" sz="2799">
                <a:solidFill>
                  <a:srgbClr val="000000"/>
                </a:solidFill>
                <a:latin typeface="Arial"/>
                <a:ea typeface="Arial"/>
                <a:cs typeface="Arial"/>
                <a:sym typeface="Arial"/>
              </a:rPr>
              <a:t>verific</a:t>
            </a:r>
            <a:r>
              <a:rPr lang="en-US" sz="2799">
                <a:solidFill>
                  <a:srgbClr val="000000"/>
                </a:solidFill>
                <a:latin typeface="Arial"/>
                <a:ea typeface="Arial"/>
                <a:cs typeface="Arial"/>
                <a:sym typeface="Arial"/>
              </a:rPr>
              <a:t>a</a:t>
            </a:r>
            <a:r>
              <a:rPr lang="en-US" sz="2799">
                <a:solidFill>
                  <a:srgbClr val="000000"/>
                </a:solidFill>
                <a:latin typeface="Arial"/>
                <a:ea typeface="Arial"/>
                <a:cs typeface="Arial"/>
                <a:sym typeface="Arial"/>
              </a:rPr>
              <a:t>tio</a:t>
            </a:r>
            <a:r>
              <a:rPr lang="en-US" sz="2799">
                <a:solidFill>
                  <a:srgbClr val="000000"/>
                </a:solidFill>
                <a:latin typeface="Arial"/>
                <a:ea typeface="Arial"/>
                <a:cs typeface="Arial"/>
                <a:sym typeface="Arial"/>
              </a:rPr>
              <a:t>n p</a:t>
            </a:r>
            <a:r>
              <a:rPr lang="en-US" sz="2799">
                <a:solidFill>
                  <a:srgbClr val="000000"/>
                </a:solidFill>
                <a:latin typeface="Arial"/>
                <a:ea typeface="Arial"/>
                <a:cs typeface="Arial"/>
                <a:sym typeface="Arial"/>
              </a:rPr>
              <a:t>latform.</a:t>
            </a:r>
          </a:p>
          <a:p>
            <a:pPr algn="l" marL="604516" indent="-302258" lvl="1">
              <a:lnSpc>
                <a:spcPts val="3359"/>
              </a:lnSpc>
              <a:buFont typeface="Arial"/>
              <a:buChar char="•"/>
            </a:pPr>
            <a:r>
              <a:rPr lang="en-US" b="true" sz="2799">
                <a:solidFill>
                  <a:srgbClr val="000000"/>
                </a:solidFill>
                <a:latin typeface="Arial Bold"/>
                <a:ea typeface="Arial Bold"/>
                <a:cs typeface="Arial Bold"/>
                <a:sym typeface="Arial Bold"/>
              </a:rPr>
              <a:t>Proactive Digital Trust Layer</a:t>
            </a:r>
            <a:r>
              <a:rPr lang="en-US" sz="2799">
                <a:solidFill>
                  <a:srgbClr val="000000"/>
                </a:solidFill>
                <a:latin typeface="Arial"/>
                <a:ea typeface="Arial"/>
                <a:cs typeface="Arial"/>
                <a:sym typeface="Arial"/>
              </a:rPr>
              <a:t>: Helps s</a:t>
            </a:r>
            <a:r>
              <a:rPr lang="en-US" sz="2799">
                <a:solidFill>
                  <a:srgbClr val="000000"/>
                </a:solidFill>
                <a:latin typeface="Arial"/>
                <a:ea typeface="Arial"/>
                <a:cs typeface="Arial"/>
                <a:sym typeface="Arial"/>
              </a:rPr>
              <a:t>t</a:t>
            </a:r>
            <a:r>
              <a:rPr lang="en-US" sz="2799">
                <a:solidFill>
                  <a:srgbClr val="000000"/>
                </a:solidFill>
                <a:latin typeface="Arial"/>
                <a:ea typeface="Arial"/>
                <a:cs typeface="Arial"/>
                <a:sym typeface="Arial"/>
              </a:rPr>
              <a:t>ude</a:t>
            </a:r>
            <a:r>
              <a:rPr lang="en-US" sz="2799">
                <a:solidFill>
                  <a:srgbClr val="000000"/>
                </a:solidFill>
                <a:latin typeface="Arial"/>
                <a:ea typeface="Arial"/>
                <a:cs typeface="Arial"/>
                <a:sym typeface="Arial"/>
              </a:rPr>
              <a:t>n</a:t>
            </a:r>
            <a:r>
              <a:rPr lang="en-US" sz="2799">
                <a:solidFill>
                  <a:srgbClr val="000000"/>
                </a:solidFill>
                <a:latin typeface="Arial"/>
                <a:ea typeface="Arial"/>
                <a:cs typeface="Arial"/>
                <a:sym typeface="Arial"/>
              </a:rPr>
              <a:t>t</a:t>
            </a:r>
            <a:r>
              <a:rPr lang="en-US" sz="2799">
                <a:solidFill>
                  <a:srgbClr val="000000"/>
                </a:solidFill>
                <a:latin typeface="Arial"/>
                <a:ea typeface="Arial"/>
                <a:cs typeface="Arial"/>
                <a:sym typeface="Arial"/>
              </a:rPr>
              <a:t>s</a:t>
            </a:r>
            <a:r>
              <a:rPr lang="en-US" sz="2799">
                <a:solidFill>
                  <a:srgbClr val="000000"/>
                </a:solidFill>
                <a:latin typeface="Arial"/>
                <a:ea typeface="Arial"/>
                <a:cs typeface="Arial"/>
                <a:sym typeface="Arial"/>
              </a:rPr>
              <a:t> and job seekers evaluate suspicious opportunities before they make payments, share information, or proceed with the recruitment process.</a:t>
            </a:r>
          </a:p>
          <a:p>
            <a:pPr algn="l">
              <a:lnSpc>
                <a:spcPts val="3359"/>
              </a:lnSpc>
            </a:pP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828086" y="326298"/>
            <a:ext cx="9666742" cy="959041"/>
          </a:xfrm>
          <a:prstGeom prst="rect">
            <a:avLst/>
          </a:prstGeom>
        </p:spPr>
        <p:txBody>
          <a:bodyPr anchor="t" rtlCol="false" tIns="0" lIns="0" bIns="0" rIns="0">
            <a:spAutoFit/>
          </a:bodyPr>
          <a:lstStyle/>
          <a:p>
            <a:pPr algn="l">
              <a:lnSpc>
                <a:spcPts val="8108"/>
              </a:lnSpc>
            </a:pPr>
            <a:r>
              <a:rPr lang="en-US" b="true" sz="4299">
                <a:solidFill>
                  <a:srgbClr val="000000"/>
                </a:solidFill>
                <a:latin typeface="Arial Bold"/>
                <a:ea typeface="Arial Bold"/>
                <a:cs typeface="Arial Bold"/>
                <a:sym typeface="Arial Bold"/>
              </a:rPr>
              <a:t>Git Hub Link</a:t>
            </a:r>
          </a:p>
        </p:txBody>
      </p:sp>
      <p:sp>
        <p:nvSpPr>
          <p:cNvPr name="TextBox 3" id="3"/>
          <p:cNvSpPr txBox="true"/>
          <p:nvPr/>
        </p:nvSpPr>
        <p:spPr>
          <a:xfrm rot="0">
            <a:off x="2196185" y="2528870"/>
            <a:ext cx="13623188" cy="4091824"/>
          </a:xfrm>
          <a:prstGeom prst="rect">
            <a:avLst/>
          </a:prstGeom>
        </p:spPr>
        <p:txBody>
          <a:bodyPr anchor="t" rtlCol="false" tIns="0" lIns="0" bIns="0" rIns="0">
            <a:spAutoFit/>
          </a:bodyPr>
          <a:lstStyle/>
          <a:p>
            <a:pPr algn="l">
              <a:lnSpc>
                <a:spcPts val="6537"/>
              </a:lnSpc>
            </a:pPr>
          </a:p>
          <a:p>
            <a:pPr algn="l">
              <a:lnSpc>
                <a:spcPts val="6537"/>
              </a:lnSpc>
            </a:pPr>
            <a:r>
              <a:rPr lang="en-US" sz="3359">
                <a:solidFill>
                  <a:srgbClr val="2B3541"/>
                </a:solidFill>
                <a:latin typeface="Times New Roman"/>
                <a:ea typeface="Times New Roman"/>
                <a:cs typeface="Times New Roman"/>
                <a:sym typeface="Times New Roman"/>
              </a:rPr>
              <a:t> The working  Github URL – </a:t>
            </a:r>
            <a:r>
              <a:rPr lang="en-US" sz="3359">
                <a:solidFill>
                  <a:srgbClr val="4472C4"/>
                </a:solidFill>
                <a:latin typeface="Times New Roman"/>
                <a:ea typeface="Times New Roman"/>
                <a:cs typeface="Times New Roman"/>
                <a:sym typeface="Times New Roman"/>
              </a:rPr>
              <a:t>https://github.com/Simarpreet-Kaur-Bhatia/-AI-Job-Internship-Scam-and-Offer-Verification-Agent---OfferShield-AI</a:t>
            </a:r>
          </a:p>
          <a:p>
            <a:pPr algn="l">
              <a:lnSpc>
                <a:spcPts val="6537"/>
              </a:lnSpc>
            </a:pPr>
          </a:p>
          <a:p>
            <a:pPr algn="l">
              <a:lnSpc>
                <a:spcPts val="6537"/>
              </a:lnSpc>
            </a:pPr>
          </a:p>
        </p:txBody>
      </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828086" y="373923"/>
            <a:ext cx="9666742" cy="800923"/>
          </a:xfrm>
          <a:prstGeom prst="rect">
            <a:avLst/>
          </a:prstGeom>
        </p:spPr>
        <p:txBody>
          <a:bodyPr anchor="t" rtlCol="false" tIns="0" lIns="0" bIns="0" rIns="0">
            <a:spAutoFit/>
          </a:bodyPr>
          <a:lstStyle/>
          <a:p>
            <a:pPr algn="l">
              <a:lnSpc>
                <a:spcPts val="6788"/>
              </a:lnSpc>
            </a:pPr>
            <a:r>
              <a:rPr lang="en-US" b="true" sz="3600">
                <a:solidFill>
                  <a:srgbClr val="000000"/>
                </a:solidFill>
                <a:latin typeface="Arial Bold"/>
                <a:ea typeface="Arial Bold"/>
                <a:cs typeface="Arial Bold"/>
                <a:sym typeface="Arial Bold"/>
              </a:rPr>
              <a:t>Future Scope </a:t>
            </a:r>
          </a:p>
        </p:txBody>
      </p:sp>
      <p:sp>
        <p:nvSpPr>
          <p:cNvPr name="TextBox 3" id="3"/>
          <p:cNvSpPr txBox="true"/>
          <p:nvPr/>
        </p:nvSpPr>
        <p:spPr>
          <a:xfrm rot="0">
            <a:off x="1028700" y="1204085"/>
            <a:ext cx="16126513" cy="8650097"/>
          </a:xfrm>
          <a:prstGeom prst="rect">
            <a:avLst/>
          </a:prstGeom>
        </p:spPr>
        <p:txBody>
          <a:bodyPr anchor="t" rtlCol="false" tIns="0" lIns="0" bIns="0" rIns="0">
            <a:spAutoFit/>
          </a:bodyPr>
          <a:lstStyle/>
          <a:p>
            <a:pPr algn="l" marL="474979" indent="-237490" lvl="1">
              <a:lnSpc>
                <a:spcPts val="4278"/>
              </a:lnSpc>
              <a:buFont typeface="Arial"/>
              <a:buChar char="•"/>
            </a:pPr>
            <a:r>
              <a:rPr lang="en-US" b="true" sz="2199">
                <a:solidFill>
                  <a:srgbClr val="2B3541"/>
                </a:solidFill>
                <a:latin typeface="Arial Bold"/>
                <a:ea typeface="Arial Bold"/>
                <a:cs typeface="Arial Bold"/>
                <a:sym typeface="Arial Bold"/>
              </a:rPr>
              <a:t>Real-Time V</a:t>
            </a:r>
            <a:r>
              <a:rPr lang="en-US" b="true" sz="2199">
                <a:solidFill>
                  <a:srgbClr val="2B3541"/>
                </a:solidFill>
                <a:latin typeface="Arial Bold"/>
                <a:ea typeface="Arial Bold"/>
                <a:cs typeface="Arial Bold"/>
                <a:sym typeface="Arial Bold"/>
              </a:rPr>
              <a:t>erification:</a:t>
            </a:r>
            <a:r>
              <a:rPr lang="en-US" sz="2199">
                <a:solidFill>
                  <a:srgbClr val="2B3541"/>
                </a:solidFill>
                <a:latin typeface="Arial"/>
                <a:ea typeface="Arial"/>
                <a:cs typeface="Arial"/>
                <a:sym typeface="Arial"/>
              </a:rPr>
              <a:t> Integrate live company, domain, email, and recruitment-source verification APIs for more accurate results.</a:t>
            </a:r>
          </a:p>
          <a:p>
            <a:pPr algn="l" marL="474979" indent="-237490" lvl="1">
              <a:lnSpc>
                <a:spcPts val="4278"/>
              </a:lnSpc>
              <a:buFont typeface="Arial"/>
              <a:buChar char="•"/>
            </a:pPr>
            <a:r>
              <a:rPr lang="en-US" b="true" sz="2199">
                <a:solidFill>
                  <a:srgbClr val="2B3541"/>
                </a:solidFill>
                <a:latin typeface="Arial Bold"/>
                <a:ea typeface="Arial Bold"/>
                <a:cs typeface="Arial Bold"/>
                <a:sym typeface="Arial Bold"/>
              </a:rPr>
              <a:t>Browser Extension: </a:t>
            </a:r>
            <a:r>
              <a:rPr lang="en-US" sz="2199">
                <a:solidFill>
                  <a:srgbClr val="2B3541"/>
                </a:solidFill>
                <a:latin typeface="Arial"/>
                <a:ea typeface="Arial"/>
                <a:cs typeface="Arial"/>
                <a:sym typeface="Arial"/>
              </a:rPr>
              <a:t>Develop a browser extension that can analyze job postings directly from platforms such as LinkedIn and other recruitment websites.</a:t>
            </a:r>
          </a:p>
          <a:p>
            <a:pPr algn="l" marL="474979" indent="-237490" lvl="1">
              <a:lnSpc>
                <a:spcPts val="4278"/>
              </a:lnSpc>
              <a:buFont typeface="Arial"/>
              <a:buChar char="•"/>
            </a:pPr>
            <a:r>
              <a:rPr lang="en-US" b="true" sz="2199">
                <a:solidFill>
                  <a:srgbClr val="2B3541"/>
                </a:solidFill>
                <a:latin typeface="Arial Bold"/>
                <a:ea typeface="Arial Bold"/>
                <a:cs typeface="Arial Bold"/>
                <a:sym typeface="Arial Bold"/>
              </a:rPr>
              <a:t>Email &amp; Messaging Integration: </a:t>
            </a:r>
            <a:r>
              <a:rPr lang="en-US" sz="2199">
                <a:solidFill>
                  <a:srgbClr val="2B3541"/>
                </a:solidFill>
                <a:latin typeface="Arial"/>
                <a:ea typeface="Arial"/>
                <a:cs typeface="Arial"/>
                <a:sym typeface="Arial"/>
              </a:rPr>
              <a:t>Enable automatic screening of suspicious recruitment emails and messages while maintaining user privacy.</a:t>
            </a:r>
          </a:p>
          <a:p>
            <a:pPr algn="l" marL="474979" indent="-237490" lvl="1">
              <a:lnSpc>
                <a:spcPts val="4278"/>
              </a:lnSpc>
              <a:buFont typeface="Arial"/>
              <a:buChar char="•"/>
            </a:pPr>
            <a:r>
              <a:rPr lang="en-US" b="true" sz="2199">
                <a:solidFill>
                  <a:srgbClr val="2B3541"/>
                </a:solidFill>
                <a:latin typeface="Arial Bold"/>
                <a:ea typeface="Arial Bold"/>
                <a:cs typeface="Arial Bold"/>
                <a:sym typeface="Arial Bold"/>
              </a:rPr>
              <a:t>Advanced RAG Knowledge Base: </a:t>
            </a:r>
            <a:r>
              <a:rPr lang="en-US" sz="2199">
                <a:solidFill>
                  <a:srgbClr val="2B3541"/>
                </a:solidFill>
                <a:latin typeface="Arial"/>
                <a:ea typeface="Arial"/>
                <a:cs typeface="Arial"/>
                <a:sym typeface="Arial"/>
              </a:rPr>
              <a:t>Continuously update the knowledge base with new scam patterns, recruitment guidelines, and verified information.</a:t>
            </a:r>
          </a:p>
          <a:p>
            <a:pPr algn="l" marL="474979" indent="-237490" lvl="1">
              <a:lnSpc>
                <a:spcPts val="4278"/>
              </a:lnSpc>
              <a:buFont typeface="Arial"/>
              <a:buChar char="•"/>
            </a:pPr>
            <a:r>
              <a:rPr lang="en-US" b="true" sz="2199">
                <a:solidFill>
                  <a:srgbClr val="2B3541"/>
                </a:solidFill>
                <a:latin typeface="Arial Bold"/>
                <a:ea typeface="Arial Bold"/>
                <a:cs typeface="Arial Bold"/>
                <a:sym typeface="Arial Bold"/>
              </a:rPr>
              <a:t>Multilingual Support: </a:t>
            </a:r>
            <a:r>
              <a:rPr lang="en-US" sz="2199">
                <a:solidFill>
                  <a:srgbClr val="2B3541"/>
                </a:solidFill>
                <a:latin typeface="Arial"/>
                <a:ea typeface="Arial"/>
                <a:cs typeface="Arial"/>
                <a:sym typeface="Arial"/>
              </a:rPr>
              <a:t>Extend the system to analyze job offers and scam indicators across multiple Indian languages.</a:t>
            </a:r>
          </a:p>
          <a:p>
            <a:pPr algn="l" marL="474979" indent="-237490" lvl="1">
              <a:lnSpc>
                <a:spcPts val="4278"/>
              </a:lnSpc>
              <a:buFont typeface="Arial"/>
              <a:buChar char="•"/>
            </a:pPr>
            <a:r>
              <a:rPr lang="en-US" b="true" sz="2199">
                <a:solidFill>
                  <a:srgbClr val="2B3541"/>
                </a:solidFill>
                <a:latin typeface="Arial Bold"/>
                <a:ea typeface="Arial Bold"/>
                <a:cs typeface="Arial Bold"/>
                <a:sym typeface="Arial Bold"/>
              </a:rPr>
              <a:t>Community Reporting: </a:t>
            </a:r>
            <a:r>
              <a:rPr lang="en-US" sz="2199">
                <a:solidFill>
                  <a:srgbClr val="2B3541"/>
                </a:solidFill>
                <a:latin typeface="Arial"/>
                <a:ea typeface="Arial"/>
                <a:cs typeface="Arial"/>
                <a:sym typeface="Arial"/>
              </a:rPr>
              <a:t>Allow users to report suspicious offers and contribute verified scam information to improve the shared knowledge base.</a:t>
            </a:r>
          </a:p>
          <a:p>
            <a:pPr algn="l" marL="474979" indent="-237490" lvl="1">
              <a:lnSpc>
                <a:spcPts val="4278"/>
              </a:lnSpc>
              <a:buFont typeface="Arial"/>
              <a:buChar char="•"/>
            </a:pPr>
            <a:r>
              <a:rPr lang="en-US" b="true" sz="2199">
                <a:solidFill>
                  <a:srgbClr val="2B3541"/>
                </a:solidFill>
                <a:latin typeface="Arial Bold"/>
                <a:ea typeface="Arial Bold"/>
                <a:cs typeface="Arial Bold"/>
                <a:sym typeface="Arial Bold"/>
              </a:rPr>
              <a:t>Personalized Risk Analysis: </a:t>
            </a:r>
            <a:r>
              <a:rPr lang="en-US" sz="2199">
                <a:solidFill>
                  <a:srgbClr val="2B3541"/>
                </a:solidFill>
                <a:latin typeface="Arial"/>
                <a:ea typeface="Arial"/>
                <a:cs typeface="Arial"/>
                <a:sym typeface="Arial"/>
              </a:rPr>
              <a:t>Adapt verification and recommendations according to the user's role, experience level, location, and type of opportunity.</a:t>
            </a:r>
          </a:p>
          <a:p>
            <a:pPr algn="l" marL="474979" indent="-237490" lvl="1">
              <a:lnSpc>
                <a:spcPts val="4281"/>
              </a:lnSpc>
              <a:buFont typeface="Arial"/>
              <a:buChar char="•"/>
            </a:pPr>
            <a:r>
              <a:rPr lang="en-US" b="true" sz="2199">
                <a:solidFill>
                  <a:srgbClr val="2B3541"/>
                </a:solidFill>
                <a:latin typeface="Arial Bold"/>
                <a:ea typeface="Arial Bold"/>
                <a:cs typeface="Arial Bold"/>
                <a:sym typeface="Arial Bold"/>
              </a:rPr>
              <a:t>Enterprise &amp; Institutional Deployment: </a:t>
            </a:r>
            <a:r>
              <a:rPr lang="en-US" sz="2199">
                <a:solidFill>
                  <a:srgbClr val="2B3541"/>
                </a:solidFill>
                <a:latin typeface="Arial"/>
                <a:ea typeface="Arial"/>
                <a:cs typeface="Arial"/>
                <a:sym typeface="Arial"/>
              </a:rPr>
              <a:t>Extend OfferShield AI for use by universities, placement cells, recruitment platforms, and organizations to improve employment-related digital trust.</a:t>
            </a:r>
          </a:p>
          <a:p>
            <a:pPr algn="l">
              <a:lnSpc>
                <a:spcPts val="4278"/>
              </a:lnSpc>
            </a:pPr>
          </a:p>
        </p:txBody>
      </p:sp>
      <p:sp>
        <p:nvSpPr>
          <p:cNvPr name="TextBox 4" id="4"/>
          <p:cNvSpPr txBox="true"/>
          <p:nvPr/>
        </p:nvSpPr>
        <p:spPr>
          <a:xfrm rot="0">
            <a:off x="1828086" y="4830775"/>
            <a:ext cx="11202829" cy="1358617"/>
          </a:xfrm>
          <a:prstGeom prst="rect">
            <a:avLst/>
          </a:prstGeom>
        </p:spPr>
        <p:txBody>
          <a:bodyPr anchor="t" rtlCol="false" tIns="0" lIns="0" bIns="0" rIns="0">
            <a:spAutoFit/>
          </a:bodyPr>
          <a:lstStyle/>
          <a:p>
            <a:pPr algn="l">
              <a:lnSpc>
                <a:spcPts val="5399"/>
              </a:lnSpc>
            </a:pPr>
            <a:r>
              <a:rPr lang="en-US" sz="2775">
                <a:solidFill>
                  <a:srgbClr val="2B3541"/>
                </a:solidFill>
                <a:latin typeface="Times New Roman"/>
                <a:ea typeface="Times New Roman"/>
                <a:cs typeface="Times New Roman"/>
                <a:sym typeface="Times New Roman"/>
              </a:rPr>
              <a:t>·</a:t>
            </a:r>
          </a:p>
        </p:txBody>
      </p:sp>
      <p:sp>
        <p:nvSpPr>
          <p:cNvPr name="TextBox 5" id="5"/>
          <p:cNvSpPr txBox="true"/>
          <p:nvPr/>
        </p:nvSpPr>
        <p:spPr>
          <a:xfrm rot="0">
            <a:off x="1828086" y="6383645"/>
            <a:ext cx="11202829" cy="1358617"/>
          </a:xfrm>
          <a:prstGeom prst="rect">
            <a:avLst/>
          </a:prstGeom>
        </p:spPr>
        <p:txBody>
          <a:bodyPr anchor="t" rtlCol="false" tIns="0" lIns="0" bIns="0" rIns="0">
            <a:spAutoFit/>
          </a:bodyPr>
          <a:lstStyle/>
          <a:p>
            <a:pPr algn="l">
              <a:lnSpc>
                <a:spcPts val="5399"/>
              </a:lnSpc>
            </a:pPr>
            <a:r>
              <a:rPr lang="en-US" sz="2775">
                <a:solidFill>
                  <a:srgbClr val="2B3541"/>
                </a:solidFill>
                <a:latin typeface="Times New Roman"/>
                <a:ea typeface="Times New Roman"/>
                <a:cs typeface="Times New Roman"/>
                <a:sym typeface="Times New Roman"/>
              </a:rPr>
              <a:t>·</a:t>
            </a:r>
          </a:p>
        </p:txBody>
      </p:sp>
      <p:sp>
        <p:nvSpPr>
          <p:cNvPr name="TextBox 6" id="6"/>
          <p:cNvSpPr txBox="true"/>
          <p:nvPr/>
        </p:nvSpPr>
        <p:spPr>
          <a:xfrm rot="0">
            <a:off x="1828086" y="7936516"/>
            <a:ext cx="11202829" cy="784088"/>
          </a:xfrm>
          <a:prstGeom prst="rect">
            <a:avLst/>
          </a:prstGeom>
        </p:spPr>
        <p:txBody>
          <a:bodyPr anchor="t" rtlCol="false" tIns="0" lIns="0" bIns="0" rIns="0">
            <a:spAutoFit/>
          </a:bodyPr>
          <a:lstStyle/>
          <a:p>
            <a:pPr algn="l">
              <a:lnSpc>
                <a:spcPts val="5399"/>
              </a:lnSpc>
            </a:pPr>
            <a:r>
              <a:rPr lang="en-US" sz="2775">
                <a:solidFill>
                  <a:srgbClr val="2B3541"/>
                </a:solidFill>
                <a:latin typeface="Times New Roman"/>
                <a:ea typeface="Times New Roman"/>
                <a:cs typeface="Times New Roman"/>
                <a:sym typeface="Times New Roman"/>
              </a:rPr>
              <a:t>·</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950523" y="1923886"/>
            <a:ext cx="10367639" cy="7564135"/>
            <a:chOff x="0" y="0"/>
            <a:chExt cx="13823518" cy="10085513"/>
          </a:xfrm>
        </p:grpSpPr>
        <p:sp>
          <p:nvSpPr>
            <p:cNvPr name="Freeform 3" id="3"/>
            <p:cNvSpPr/>
            <p:nvPr/>
          </p:nvSpPr>
          <p:spPr>
            <a:xfrm flipH="false" flipV="false" rot="0">
              <a:off x="0" y="0"/>
              <a:ext cx="13823569" cy="10085563"/>
            </a:xfrm>
            <a:custGeom>
              <a:avLst/>
              <a:gdLst/>
              <a:ahLst/>
              <a:cxnLst/>
              <a:rect r="r" b="b" t="t" l="l"/>
              <a:pathLst>
                <a:path h="10085563" w="13823569">
                  <a:moveTo>
                    <a:pt x="0" y="0"/>
                  </a:moveTo>
                  <a:lnTo>
                    <a:pt x="13823569" y="0"/>
                  </a:lnTo>
                  <a:lnTo>
                    <a:pt x="13823569" y="10085563"/>
                  </a:lnTo>
                  <a:lnTo>
                    <a:pt x="0" y="10085563"/>
                  </a:lnTo>
                  <a:lnTo>
                    <a:pt x="0" y="0"/>
                  </a:lnTo>
                  <a:close/>
                </a:path>
              </a:pathLst>
            </a:custGeom>
            <a:blipFill>
              <a:blip r:embed="rId2"/>
              <a:stretch>
                <a:fillRect l="0" t="-2193" r="0" b="-2193"/>
              </a:stretch>
            </a:blipFill>
          </p:spPr>
        </p:sp>
      </p:grpSp>
      <p:sp>
        <p:nvSpPr>
          <p:cNvPr name="TextBox 4" id="4"/>
          <p:cNvSpPr txBox="true"/>
          <p:nvPr/>
        </p:nvSpPr>
        <p:spPr>
          <a:xfrm rot="0">
            <a:off x="583368" y="328212"/>
            <a:ext cx="8961120" cy="952795"/>
          </a:xfrm>
          <a:prstGeom prst="rect">
            <a:avLst/>
          </a:prstGeom>
        </p:spPr>
        <p:txBody>
          <a:bodyPr anchor="t" rtlCol="false" tIns="0" lIns="0" bIns="0" rIns="0">
            <a:spAutoFit/>
          </a:bodyPr>
          <a:lstStyle/>
          <a:p>
            <a:pPr algn="l">
              <a:lnSpc>
                <a:spcPts val="4320"/>
              </a:lnSpc>
            </a:pPr>
            <a:r>
              <a:rPr lang="en-US" sz="3600" b="true">
                <a:solidFill>
                  <a:srgbClr val="000000"/>
                </a:solidFill>
                <a:latin typeface="Arial Bold"/>
                <a:ea typeface="Arial Bold"/>
                <a:cs typeface="Arial Bold"/>
                <a:sym typeface="Arial Bold"/>
              </a:rPr>
              <a:t>Certificates Earned:</a:t>
            </a:r>
          </a:p>
          <a:p>
            <a:pPr algn="ctr">
              <a:lnSpc>
                <a:spcPts val="4320"/>
              </a:lnSpc>
            </a:pPr>
          </a:p>
        </p:txBody>
      </p:sp>
      <p:sp>
        <p:nvSpPr>
          <p:cNvPr name="TextBox 5" id="5"/>
          <p:cNvSpPr txBox="true"/>
          <p:nvPr/>
        </p:nvSpPr>
        <p:spPr>
          <a:xfrm rot="0">
            <a:off x="919515" y="1061761"/>
            <a:ext cx="9402070" cy="712441"/>
          </a:xfrm>
          <a:prstGeom prst="rect">
            <a:avLst/>
          </a:prstGeom>
        </p:spPr>
        <p:txBody>
          <a:bodyPr anchor="t" rtlCol="false" tIns="0" lIns="0" bIns="0" rIns="0">
            <a:spAutoFit/>
          </a:bodyPr>
          <a:lstStyle/>
          <a:p>
            <a:pPr algn="l">
              <a:lnSpc>
                <a:spcPts val="5040"/>
              </a:lnSpc>
            </a:pPr>
            <a:r>
              <a:rPr lang="en-US" sz="4200" b="true">
                <a:solidFill>
                  <a:srgbClr val="000000"/>
                </a:solidFill>
                <a:latin typeface="Arial Bold"/>
                <a:ea typeface="Arial Bold"/>
                <a:cs typeface="Arial Bold"/>
                <a:sym typeface="Arial Bold"/>
              </a:rPr>
              <a:t>Please  add your credly certificate </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769100" y="2808192"/>
            <a:ext cx="10766327" cy="6748631"/>
            <a:chOff x="0" y="0"/>
            <a:chExt cx="14355102" cy="8998175"/>
          </a:xfrm>
        </p:grpSpPr>
        <p:sp>
          <p:nvSpPr>
            <p:cNvPr name="Freeform 3" id="3"/>
            <p:cNvSpPr/>
            <p:nvPr/>
          </p:nvSpPr>
          <p:spPr>
            <a:xfrm flipH="false" flipV="false" rot="0">
              <a:off x="0" y="0"/>
              <a:ext cx="14355063" cy="8998125"/>
            </a:xfrm>
            <a:custGeom>
              <a:avLst/>
              <a:gdLst/>
              <a:ahLst/>
              <a:cxnLst/>
              <a:rect r="r" b="b" t="t" l="l"/>
              <a:pathLst>
                <a:path h="8998125" w="14355063">
                  <a:moveTo>
                    <a:pt x="0" y="0"/>
                  </a:moveTo>
                  <a:lnTo>
                    <a:pt x="14355063" y="0"/>
                  </a:lnTo>
                  <a:lnTo>
                    <a:pt x="14355063" y="8998125"/>
                  </a:lnTo>
                  <a:lnTo>
                    <a:pt x="0" y="8998125"/>
                  </a:lnTo>
                  <a:lnTo>
                    <a:pt x="0" y="0"/>
                  </a:lnTo>
                  <a:close/>
                </a:path>
              </a:pathLst>
            </a:custGeom>
            <a:blipFill>
              <a:blip r:embed="rId2"/>
              <a:stretch>
                <a:fillRect l="-479" t="0" r="-479" b="0"/>
              </a:stretch>
            </a:blipFill>
          </p:spPr>
        </p:sp>
      </p:grpSp>
      <p:sp>
        <p:nvSpPr>
          <p:cNvPr name="TextBox 4" id="4"/>
          <p:cNvSpPr txBox="true"/>
          <p:nvPr/>
        </p:nvSpPr>
        <p:spPr>
          <a:xfrm rot="0">
            <a:off x="356483" y="356730"/>
            <a:ext cx="8961120" cy="952795"/>
          </a:xfrm>
          <a:prstGeom prst="rect">
            <a:avLst/>
          </a:prstGeom>
        </p:spPr>
        <p:txBody>
          <a:bodyPr anchor="t" rtlCol="false" tIns="0" lIns="0" bIns="0" rIns="0">
            <a:spAutoFit/>
          </a:bodyPr>
          <a:lstStyle/>
          <a:p>
            <a:pPr algn="l">
              <a:lnSpc>
                <a:spcPts val="4320"/>
              </a:lnSpc>
            </a:pPr>
            <a:r>
              <a:rPr lang="en-US" sz="3600" b="true">
                <a:solidFill>
                  <a:srgbClr val="000000"/>
                </a:solidFill>
                <a:latin typeface="Arial Bold"/>
                <a:ea typeface="Arial Bold"/>
                <a:cs typeface="Arial Bold"/>
                <a:sym typeface="Arial Bold"/>
              </a:rPr>
              <a:t>Certificates Earned:</a:t>
            </a:r>
            <a:r>
              <a:rPr lang="en-US" sz="3600">
                <a:solidFill>
                  <a:srgbClr val="000000"/>
                </a:solidFill>
                <a:latin typeface="Arial"/>
                <a:ea typeface="Arial"/>
                <a:cs typeface="Arial"/>
                <a:sym typeface="Arial"/>
              </a:rPr>
              <a:t>​</a:t>
            </a:r>
          </a:p>
          <a:p>
            <a:pPr algn="ctr">
              <a:lnSpc>
                <a:spcPts val="4320"/>
              </a:lnSpc>
            </a:pPr>
          </a:p>
        </p:txBody>
      </p:sp>
      <p:sp>
        <p:nvSpPr>
          <p:cNvPr name="TextBox 5" id="5"/>
          <p:cNvSpPr txBox="true"/>
          <p:nvPr/>
        </p:nvSpPr>
        <p:spPr>
          <a:xfrm rot="0">
            <a:off x="836705" y="1227372"/>
            <a:ext cx="7973644" cy="527771"/>
          </a:xfrm>
          <a:prstGeom prst="rect">
            <a:avLst/>
          </a:prstGeom>
        </p:spPr>
        <p:txBody>
          <a:bodyPr anchor="t" rtlCol="false" tIns="0" lIns="0" bIns="0" rIns="0">
            <a:spAutoFit/>
          </a:bodyPr>
          <a:lstStyle/>
          <a:p>
            <a:pPr algn="l">
              <a:lnSpc>
                <a:spcPts val="3600"/>
              </a:lnSpc>
            </a:pPr>
            <a:r>
              <a:rPr lang="en-US" sz="3000" b="true">
                <a:solidFill>
                  <a:srgbClr val="000000"/>
                </a:solidFill>
                <a:latin typeface="Arial Bold"/>
                <a:ea typeface="Arial Bold"/>
                <a:cs typeface="Arial Bold"/>
                <a:sym typeface="Arial Bold"/>
              </a:rPr>
              <a:t>Add your IBM BOB Certificate</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3285449"/>
            <a:ext cx="18288000" cy="3716093"/>
            <a:chOff x="0" y="0"/>
            <a:chExt cx="24384000" cy="4954791"/>
          </a:xfrm>
        </p:grpSpPr>
        <p:sp>
          <p:nvSpPr>
            <p:cNvPr name="Freeform 3" id="3"/>
            <p:cNvSpPr/>
            <p:nvPr/>
          </p:nvSpPr>
          <p:spPr>
            <a:xfrm flipH="false" flipV="false" rot="0">
              <a:off x="0" y="0"/>
              <a:ext cx="24384000" cy="4954778"/>
            </a:xfrm>
            <a:custGeom>
              <a:avLst/>
              <a:gdLst/>
              <a:ahLst/>
              <a:cxnLst/>
              <a:rect r="r" b="b" t="t" l="l"/>
              <a:pathLst>
                <a:path h="4954778" w="24384000">
                  <a:moveTo>
                    <a:pt x="0" y="0"/>
                  </a:moveTo>
                  <a:lnTo>
                    <a:pt x="24384000" y="0"/>
                  </a:lnTo>
                  <a:lnTo>
                    <a:pt x="24384000" y="4954778"/>
                  </a:lnTo>
                  <a:lnTo>
                    <a:pt x="0" y="4954778"/>
                  </a:lnTo>
                  <a:lnTo>
                    <a:pt x="0" y="0"/>
                  </a:lnTo>
                  <a:close/>
                </a:path>
              </a:pathLst>
            </a:custGeom>
            <a:blipFill>
              <a:blip r:embed="rId3"/>
              <a:stretch>
                <a:fillRect l="0" t="0" r="0"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DAHUuU8_aPM</dc:identifier>
  <dcterms:modified xsi:type="dcterms:W3CDTF">2011-08-01T06:04:30Z</dcterms:modified>
  <cp:revision>1</cp:revision>
  <dc:title>Adv GLE_IBM BOB_Project Submission- OfferShield-AI.pptx</dc:title>
</cp:coreProperties>
</file>